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Illustrative rides demanded</c:v>
                </c:pt>
              </c:strCache>
            </c:strRef>
          </c:tx>
          <c:invertIfNegative val="1"/>
          <c:cat>
            <c:strRef>
              <c:f>Sheet1!$A$2:$A$5</c:f>
              <c:strCache>
                <c:ptCount val="4"/>
                <c:pt idx="0">
                  <c:v>Normal</c:v>
                </c:pt>
                <c:pt idx="1">
                  <c:v>Moderate</c:v>
                </c:pt>
                <c:pt idx="2">
                  <c:v>High Surge</c:v>
                </c:pt>
                <c:pt idx="3">
                  <c:v>Extreme</c:v>
                </c:pt>
              </c:strCache>
            </c:strRef>
          </c:cat>
          <c:val>
            <c:numRef>
              <c:f>Sheet1!$B$2:$B$5</c:f>
              <c:numCache>
                <c:formatCode>General</c:formatCode>
                <c:ptCount val="4"/>
                <c:pt idx="0">
                  <c:v>100</c:v>
                </c:pt>
                <c:pt idx="1">
                  <c:v>82</c:v>
                </c:pt>
                <c:pt idx="2">
                  <c:v>61</c:v>
                </c:pt>
                <c:pt idx="3">
                  <c:v>40</c:v>
                </c:pt>
              </c:numCache>
            </c:numRef>
          </c:val>
          <c:extLst>
            <c:ext xmlns:c16="http://schemas.microsoft.com/office/drawing/2014/chart" uri="{C3380CC4-5D6E-409C-BE32-E72D297353CC}">
              <c16:uniqueId val="{00000000-BF01-4D81-B612-5C93FA8DB32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Demand index</c:v>
                </c:pt>
              </c:strCache>
            </c:strRef>
          </c:tx>
          <c:marker>
            <c:symbol val="none"/>
          </c:marker>
          <c:cat>
            <c:strRef>
              <c:f>Sheet1!$A$2:$A$6</c:f>
              <c:strCache>
                <c:ptCount val="5"/>
                <c:pt idx="0">
                  <c:v>6am</c:v>
                </c:pt>
                <c:pt idx="1">
                  <c:v>9am</c:v>
                </c:pt>
                <c:pt idx="2">
                  <c:v>12pm</c:v>
                </c:pt>
                <c:pt idx="3">
                  <c:v>6pm</c:v>
                </c:pt>
                <c:pt idx="4">
                  <c:v>9pm</c:v>
                </c:pt>
              </c:strCache>
            </c:strRef>
          </c:cat>
          <c:val>
            <c:numRef>
              <c:f>Sheet1!$B$2:$B$6</c:f>
              <c:numCache>
                <c:formatCode>General</c:formatCode>
                <c:ptCount val="5"/>
                <c:pt idx="0">
                  <c:v>55</c:v>
                </c:pt>
                <c:pt idx="1">
                  <c:v>92</c:v>
                </c:pt>
                <c:pt idx="2">
                  <c:v>68</c:v>
                </c:pt>
                <c:pt idx="3">
                  <c:v>100</c:v>
                </c:pt>
                <c:pt idx="4">
                  <c:v>76</c:v>
                </c:pt>
              </c:numCache>
            </c:numRef>
          </c:val>
          <c:smooth val="0"/>
          <c:extLst>
            <c:ext xmlns:c16="http://schemas.microsoft.com/office/drawing/2014/chart" uri="{C3380CC4-5D6E-409C-BE32-E72D297353CC}">
              <c16:uniqueId val="{00000000-FF89-4A8F-9226-267D8BCB31F4}"/>
            </c:ext>
          </c:extLst>
        </c:ser>
        <c:ser>
          <c:idx val="1"/>
          <c:order val="1"/>
          <c:tx>
            <c:strRef>
              <c:f>Sheet1!$C$1</c:f>
              <c:strCache>
                <c:ptCount val="1"/>
                <c:pt idx="0">
                  <c:v>Driver supply</c:v>
                </c:pt>
              </c:strCache>
            </c:strRef>
          </c:tx>
          <c:marker>
            <c:symbol val="none"/>
          </c:marker>
          <c:cat>
            <c:strRef>
              <c:f>Sheet1!$A$2:$A$6</c:f>
              <c:strCache>
                <c:ptCount val="5"/>
                <c:pt idx="0">
                  <c:v>6am</c:v>
                </c:pt>
                <c:pt idx="1">
                  <c:v>9am</c:v>
                </c:pt>
                <c:pt idx="2">
                  <c:v>12pm</c:v>
                </c:pt>
                <c:pt idx="3">
                  <c:v>6pm</c:v>
                </c:pt>
                <c:pt idx="4">
                  <c:v>9pm</c:v>
                </c:pt>
              </c:strCache>
            </c:strRef>
          </c:cat>
          <c:val>
            <c:numRef>
              <c:f>Sheet1!$C$2:$C$6</c:f>
              <c:numCache>
                <c:formatCode>General</c:formatCode>
                <c:ptCount val="5"/>
                <c:pt idx="0">
                  <c:v>65</c:v>
                </c:pt>
                <c:pt idx="1">
                  <c:v>72</c:v>
                </c:pt>
                <c:pt idx="2">
                  <c:v>70</c:v>
                </c:pt>
                <c:pt idx="3">
                  <c:v>78</c:v>
                </c:pt>
                <c:pt idx="4">
                  <c:v>74</c:v>
                </c:pt>
              </c:numCache>
            </c:numRef>
          </c:val>
          <c:smooth val="0"/>
          <c:extLst>
            <c:ext xmlns:c16="http://schemas.microsoft.com/office/drawing/2014/chart" uri="{C3380CC4-5D6E-409C-BE32-E72D297353CC}">
              <c16:uniqueId val="{00000001-FF89-4A8F-9226-267D8BCB31F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182880"/>
            <a:ext cx="2103120" cy="2103120"/>
          </a:xfrm>
          <a:prstGeom prst="ellipse">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98480" y="1188720"/>
            <a:ext cx="1371600" cy="1371600"/>
          </a:xfrm>
          <a:prstGeom prst="ellipse">
            <a:avLst/>
          </a:prstGeom>
          <a:solidFill>
            <a:srgbClr val="22C1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0" y="5212080"/>
            <a:ext cx="2011680" cy="2011680"/>
          </a:xfrm>
          <a:prstGeom prst="ellipse">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94360"/>
            <a:ext cx="4572000" cy="411480"/>
          </a:xfrm>
          <a:prstGeom prst="rect">
            <a:avLst/>
          </a:prstGeom>
          <a:noFill/>
        </p:spPr>
        <p:txBody>
          <a:bodyPr wrap="square">
            <a:spAutoFit/>
          </a:bodyPr>
          <a:lstStyle/>
          <a:p>
            <a:pPr algn="l"/>
            <a:r>
              <a:rPr sz="1600" b="1">
                <a:solidFill>
                  <a:srgbClr val="22C1C3"/>
                </a:solidFill>
              </a:rPr>
              <a:t>OLA / UBER</a:t>
            </a:r>
          </a:p>
        </p:txBody>
      </p:sp>
      <p:sp>
        <p:nvSpPr>
          <p:cNvPr id="7" name="TextBox 6"/>
          <p:cNvSpPr txBox="1"/>
          <p:nvPr/>
        </p:nvSpPr>
        <p:spPr>
          <a:xfrm>
            <a:off x="640080" y="1234440"/>
            <a:ext cx="8046720" cy="1417320"/>
          </a:xfrm>
          <a:prstGeom prst="rect">
            <a:avLst/>
          </a:prstGeom>
          <a:noFill/>
        </p:spPr>
        <p:txBody>
          <a:bodyPr wrap="square">
            <a:spAutoFit/>
          </a:bodyPr>
          <a:lstStyle/>
          <a:p>
            <a:pPr algn="l"/>
            <a:r>
              <a:rPr sz="3800" b="1">
                <a:solidFill>
                  <a:srgbClr val="FFFFFF"/>
                </a:solidFill>
              </a:rPr>
              <a:t>SURGE PRICING
&amp; GIG ECONOMY</a:t>
            </a:r>
          </a:p>
        </p:txBody>
      </p:sp>
      <p:sp>
        <p:nvSpPr>
          <p:cNvPr id="8" name="TextBox 7"/>
          <p:cNvSpPr txBox="1"/>
          <p:nvPr/>
        </p:nvSpPr>
        <p:spPr>
          <a:xfrm>
            <a:off x="685800" y="2971800"/>
            <a:ext cx="7772400" cy="861774"/>
          </a:xfrm>
          <a:prstGeom prst="rect">
            <a:avLst/>
          </a:prstGeom>
          <a:noFill/>
        </p:spPr>
        <p:txBody>
          <a:bodyPr wrap="square">
            <a:spAutoFit/>
          </a:bodyPr>
          <a:lstStyle/>
          <a:p>
            <a:r>
              <a:rPr lang="en-IN" sz="1600" dirty="0">
                <a:solidFill>
                  <a:schemeClr val="bg1"/>
                </a:solidFill>
              </a:rPr>
              <a:t>Our topic is </a:t>
            </a:r>
            <a:r>
              <a:rPr lang="en-IN" sz="1600" b="1" dirty="0">
                <a:solidFill>
                  <a:schemeClr val="bg1"/>
                </a:solidFill>
              </a:rPr>
              <a:t>Ola and Uber Surge Pricing and the Gig Economy</a:t>
            </a:r>
            <a:r>
              <a:rPr lang="en-IN" sz="1600" dirty="0"/>
              <a:t>.</a:t>
            </a:r>
            <a:endParaRPr lang="en-IN" sz="1600" dirty="0">
              <a:solidFill>
                <a:schemeClr val="bg1"/>
              </a:solidFill>
            </a:endParaRPr>
          </a:p>
          <a:p>
            <a:r>
              <a:rPr lang="en-IN" sz="1600" dirty="0">
                <a:solidFill>
                  <a:schemeClr val="bg1"/>
                </a:solidFill>
              </a:rPr>
              <a:t>In this project, we study how ride prices change when demand is high and how both riders and drivers respond to these changes</a:t>
            </a:r>
            <a:r>
              <a:rPr lang="en-IN" sz="1600" dirty="0"/>
              <a:t>.</a:t>
            </a:r>
            <a:endParaRPr sz="1700" b="0" dirty="0">
              <a:solidFill>
                <a:srgbClr val="D7E0F0"/>
              </a:solidFill>
            </a:endParaRPr>
          </a:p>
        </p:txBody>
      </p:sp>
      <p:sp>
        <p:nvSpPr>
          <p:cNvPr id="9" name="Rounded Rectangle 8"/>
          <p:cNvSpPr/>
          <p:nvPr/>
        </p:nvSpPr>
        <p:spPr>
          <a:xfrm>
            <a:off x="685800" y="4663440"/>
            <a:ext cx="4663440" cy="384048"/>
          </a:xfrm>
          <a:prstGeom prst="round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ECONOMICS • BUSINESS ENVIRONMENT • PYTHON</a:t>
            </a:r>
          </a:p>
        </p:txBody>
      </p:sp>
      <p:sp>
        <p:nvSpPr>
          <p:cNvPr id="10" name="TextBox 9"/>
          <p:cNvSpPr txBox="1"/>
          <p:nvPr/>
        </p:nvSpPr>
        <p:spPr>
          <a:xfrm>
            <a:off x="685800" y="5623560"/>
            <a:ext cx="2743200" cy="320040"/>
          </a:xfrm>
          <a:prstGeom prst="rect">
            <a:avLst/>
          </a:prstGeom>
          <a:noFill/>
        </p:spPr>
        <p:txBody>
          <a:bodyPr wrap="square">
            <a:spAutoFit/>
          </a:bodyPr>
          <a:lstStyle/>
          <a:p>
            <a:pPr algn="l"/>
            <a:r>
              <a:rPr sz="1300" b="1">
                <a:solidFill>
                  <a:srgbClr val="FFFFFF"/>
                </a:solidFill>
              </a:rPr>
              <a:t>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1. Introduction to the Topic</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We selected this topic because Ola and Uber are a common part of urban transportation. Surge pricing directly affects riders, while incentives and earnings affect drivers. So, this topic helps us understand both sides of the platform.</a:t>
            </a:r>
            <a:endParaRPr sz="1250" b="0" dirty="0">
              <a:solidFill>
                <a:srgbClr val="697587"/>
              </a:solidFill>
            </a:endParaRPr>
          </a:p>
        </p:txBody>
      </p:sp>
      <p:sp>
        <p:nvSpPr>
          <p:cNvPr id="5" name="Rounded Rectangle 4"/>
          <p:cNvSpPr/>
          <p:nvPr/>
        </p:nvSpPr>
        <p:spPr>
          <a:xfrm>
            <a:off x="594360" y="1325880"/>
            <a:ext cx="3429000" cy="41605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325880"/>
            <a:ext cx="73152" cy="416052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490472"/>
            <a:ext cx="3063240" cy="320040"/>
          </a:xfrm>
          <a:prstGeom prst="rect">
            <a:avLst/>
          </a:prstGeom>
          <a:noFill/>
        </p:spPr>
        <p:txBody>
          <a:bodyPr wrap="square">
            <a:spAutoFit/>
          </a:bodyPr>
          <a:lstStyle/>
          <a:p>
            <a:pPr algn="l"/>
            <a:r>
              <a:rPr sz="1500" b="1">
                <a:solidFill>
                  <a:srgbClr val="2478D6"/>
                </a:solidFill>
              </a:rPr>
              <a:t>SURGE PRICING</a:t>
            </a:r>
          </a:p>
        </p:txBody>
      </p:sp>
      <p:sp>
        <p:nvSpPr>
          <p:cNvPr id="8" name="TextBox 7"/>
          <p:cNvSpPr txBox="1"/>
          <p:nvPr/>
        </p:nvSpPr>
        <p:spPr>
          <a:xfrm>
            <a:off x="795528" y="1892807"/>
            <a:ext cx="3063240" cy="3474720"/>
          </a:xfrm>
          <a:prstGeom prst="rect">
            <a:avLst/>
          </a:prstGeom>
          <a:noFill/>
        </p:spPr>
        <p:txBody>
          <a:bodyPr wrap="square">
            <a:spAutoFit/>
          </a:bodyPr>
          <a:lstStyle/>
          <a:p>
            <a:pPr algn="l"/>
            <a:r>
              <a:rPr sz="1150" b="0">
                <a:solidFill>
                  <a:srgbClr val="1E2532"/>
                </a:solidFill>
              </a:rPr>
              <a:t>When rider demand temporarily exceeds available drivers, platforms increase fares to balance demand and supply.</a:t>
            </a:r>
          </a:p>
        </p:txBody>
      </p:sp>
      <p:sp>
        <p:nvSpPr>
          <p:cNvPr id="9" name="Rounded Rectangle 8"/>
          <p:cNvSpPr/>
          <p:nvPr/>
        </p:nvSpPr>
        <p:spPr>
          <a:xfrm>
            <a:off x="4370832" y="1325880"/>
            <a:ext cx="3429000" cy="41605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832" y="1325880"/>
            <a:ext cx="73152" cy="4160520"/>
          </a:xfrm>
          <a:prstGeom prst="rect">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490472"/>
            <a:ext cx="3063240" cy="320040"/>
          </a:xfrm>
          <a:prstGeom prst="rect">
            <a:avLst/>
          </a:prstGeom>
          <a:noFill/>
        </p:spPr>
        <p:txBody>
          <a:bodyPr wrap="square">
            <a:spAutoFit/>
          </a:bodyPr>
          <a:lstStyle/>
          <a:p>
            <a:pPr algn="l"/>
            <a:r>
              <a:rPr sz="1500" b="1">
                <a:solidFill>
                  <a:srgbClr val="F5892F"/>
                </a:solidFill>
              </a:rPr>
              <a:t>GIG ECONOMY</a:t>
            </a:r>
          </a:p>
        </p:txBody>
      </p:sp>
      <p:sp>
        <p:nvSpPr>
          <p:cNvPr id="12" name="TextBox 11"/>
          <p:cNvSpPr txBox="1"/>
          <p:nvPr/>
        </p:nvSpPr>
        <p:spPr>
          <a:xfrm>
            <a:off x="4572000" y="1892807"/>
            <a:ext cx="3063240" cy="3474720"/>
          </a:xfrm>
          <a:prstGeom prst="rect">
            <a:avLst/>
          </a:prstGeom>
          <a:noFill/>
        </p:spPr>
        <p:txBody>
          <a:bodyPr wrap="square">
            <a:spAutoFit/>
          </a:bodyPr>
          <a:lstStyle/>
          <a:p>
            <a:pPr algn="l"/>
            <a:r>
              <a:rPr sz="1150" b="0">
                <a:solidFill>
                  <a:srgbClr val="1E2532"/>
                </a:solidFill>
              </a:rPr>
              <a:t>Drivers work flexibly through digital platforms. Their availability affects service capacity, earnings and waiting time.</a:t>
            </a:r>
          </a:p>
        </p:txBody>
      </p:sp>
      <p:sp>
        <p:nvSpPr>
          <p:cNvPr id="13" name="Rounded Rectangle 12"/>
          <p:cNvSpPr/>
          <p:nvPr/>
        </p:nvSpPr>
        <p:spPr>
          <a:xfrm>
            <a:off x="8147304" y="1325880"/>
            <a:ext cx="3429000" cy="41605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47304" y="1325880"/>
            <a:ext cx="73152" cy="4160520"/>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48472" y="1490472"/>
            <a:ext cx="3063240" cy="320040"/>
          </a:xfrm>
          <a:prstGeom prst="rect">
            <a:avLst/>
          </a:prstGeom>
          <a:noFill/>
        </p:spPr>
        <p:txBody>
          <a:bodyPr wrap="square">
            <a:spAutoFit/>
          </a:bodyPr>
          <a:lstStyle/>
          <a:p>
            <a:pPr algn="l"/>
            <a:r>
              <a:rPr sz="1500" b="1">
                <a:solidFill>
                  <a:srgbClr val="704CB6"/>
                </a:solidFill>
              </a:rPr>
              <a:t>INDIAN MARKET</a:t>
            </a:r>
          </a:p>
        </p:txBody>
      </p:sp>
      <p:sp>
        <p:nvSpPr>
          <p:cNvPr id="16" name="TextBox 15"/>
          <p:cNvSpPr txBox="1"/>
          <p:nvPr/>
        </p:nvSpPr>
        <p:spPr>
          <a:xfrm>
            <a:off x="8348472" y="1892807"/>
            <a:ext cx="3063240" cy="3474720"/>
          </a:xfrm>
          <a:prstGeom prst="rect">
            <a:avLst/>
          </a:prstGeom>
          <a:noFill/>
        </p:spPr>
        <p:txBody>
          <a:bodyPr wrap="square">
            <a:spAutoFit/>
          </a:bodyPr>
          <a:lstStyle/>
          <a:p>
            <a:pPr algn="l"/>
            <a:r>
              <a:rPr sz="1150" b="0">
                <a:solidFill>
                  <a:srgbClr val="1E2532"/>
                </a:solidFill>
              </a:rPr>
              <a:t>Ola and Uber operate in a competitive, app-based mobility market where price, availability and user experience interact.</a:t>
            </a:r>
          </a:p>
        </p:txBody>
      </p:sp>
      <p:sp>
        <p:nvSpPr>
          <p:cNvPr id="17" name="Rounded Rectangle 16"/>
          <p:cNvSpPr/>
          <p:nvPr/>
        </p:nvSpPr>
        <p:spPr>
          <a:xfrm>
            <a:off x="2788920" y="5806440"/>
            <a:ext cx="6583680" cy="384048"/>
          </a:xfrm>
          <a:prstGeom prst="round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Demand ↑  →  Price ↑  →  Rider response  →  Driver response</a:t>
            </a:r>
          </a:p>
        </p:txBody>
      </p:sp>
      <p:sp>
        <p:nvSpPr>
          <p:cNvPr id="18" name="TextBox 17"/>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2/10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2. Motivation for the Project</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Our main objectives are to study demand elasticity, understand rider behaviour, analyse driver capacity, examine competition between Ola and Uber, understand dynamic pricing, and finally look at gig-worker issues and SDG 8.</a:t>
            </a:r>
            <a:endParaRPr sz="1250" b="0" dirty="0">
              <a:solidFill>
                <a:srgbClr val="697587"/>
              </a:solidFill>
            </a:endParaRPr>
          </a:p>
        </p:txBody>
      </p:sp>
      <p:sp>
        <p:nvSpPr>
          <p:cNvPr id="5" name="Rounded Rectangle 4"/>
          <p:cNvSpPr/>
          <p:nvPr/>
        </p:nvSpPr>
        <p:spPr>
          <a:xfrm>
            <a:off x="685800" y="1325880"/>
            <a:ext cx="5074920" cy="16916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325880"/>
            <a:ext cx="73152" cy="169164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490472"/>
            <a:ext cx="4709159" cy="320040"/>
          </a:xfrm>
          <a:prstGeom prst="rect">
            <a:avLst/>
          </a:prstGeom>
          <a:noFill/>
        </p:spPr>
        <p:txBody>
          <a:bodyPr wrap="square">
            <a:spAutoFit/>
          </a:bodyPr>
          <a:lstStyle/>
          <a:p>
            <a:pPr algn="l"/>
            <a:r>
              <a:rPr sz="1500" b="1">
                <a:solidFill>
                  <a:srgbClr val="2478D6"/>
                </a:solidFill>
              </a:rPr>
              <a:t>PRICE SHOCKS</a:t>
            </a:r>
          </a:p>
        </p:txBody>
      </p:sp>
      <p:sp>
        <p:nvSpPr>
          <p:cNvPr id="8" name="TextBox 7"/>
          <p:cNvSpPr txBox="1"/>
          <p:nvPr/>
        </p:nvSpPr>
        <p:spPr>
          <a:xfrm>
            <a:off x="886968" y="1892807"/>
            <a:ext cx="4709159" cy="1005840"/>
          </a:xfrm>
          <a:prstGeom prst="rect">
            <a:avLst/>
          </a:prstGeom>
          <a:noFill/>
        </p:spPr>
        <p:txBody>
          <a:bodyPr wrap="square">
            <a:spAutoFit/>
          </a:bodyPr>
          <a:lstStyle/>
          <a:p>
            <a:pPr algn="l"/>
            <a:r>
              <a:rPr sz="1150" b="0">
                <a:solidFill>
                  <a:srgbClr val="1E2532"/>
                </a:solidFill>
              </a:rPr>
              <a:t>Understand whether riders reduce, delay or switch trips when fares rise.</a:t>
            </a:r>
          </a:p>
        </p:txBody>
      </p:sp>
      <p:sp>
        <p:nvSpPr>
          <p:cNvPr id="9" name="Rounded Rectangle 8"/>
          <p:cNvSpPr/>
          <p:nvPr/>
        </p:nvSpPr>
        <p:spPr>
          <a:xfrm>
            <a:off x="6309360" y="1325880"/>
            <a:ext cx="5074920" cy="16916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325880"/>
            <a:ext cx="73152" cy="1691640"/>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490472"/>
            <a:ext cx="4709159" cy="320040"/>
          </a:xfrm>
          <a:prstGeom prst="rect">
            <a:avLst/>
          </a:prstGeom>
          <a:noFill/>
        </p:spPr>
        <p:txBody>
          <a:bodyPr wrap="square">
            <a:spAutoFit/>
          </a:bodyPr>
          <a:lstStyle/>
          <a:p>
            <a:pPr algn="l"/>
            <a:r>
              <a:rPr sz="1500" b="1">
                <a:solidFill>
                  <a:srgbClr val="704CB6"/>
                </a:solidFill>
              </a:rPr>
              <a:t>COMPETITION</a:t>
            </a:r>
          </a:p>
        </p:txBody>
      </p:sp>
      <p:sp>
        <p:nvSpPr>
          <p:cNvPr id="12" name="TextBox 11"/>
          <p:cNvSpPr txBox="1"/>
          <p:nvPr/>
        </p:nvSpPr>
        <p:spPr>
          <a:xfrm>
            <a:off x="6510528" y="1892807"/>
            <a:ext cx="4709159" cy="1005840"/>
          </a:xfrm>
          <a:prstGeom prst="rect">
            <a:avLst/>
          </a:prstGeom>
          <a:noFill/>
        </p:spPr>
        <p:txBody>
          <a:bodyPr wrap="square">
            <a:spAutoFit/>
          </a:bodyPr>
          <a:lstStyle/>
          <a:p>
            <a:pPr algn="l"/>
            <a:r>
              <a:rPr sz="1150" b="0">
                <a:solidFill>
                  <a:srgbClr val="1E2532"/>
                </a:solidFill>
              </a:rPr>
              <a:t>Examine how two major platforms react to each other’s pricing and capacity decisions.</a:t>
            </a:r>
          </a:p>
        </p:txBody>
      </p:sp>
      <p:sp>
        <p:nvSpPr>
          <p:cNvPr id="13" name="Rounded Rectangle 12"/>
          <p:cNvSpPr/>
          <p:nvPr/>
        </p:nvSpPr>
        <p:spPr>
          <a:xfrm>
            <a:off x="685800" y="3474720"/>
            <a:ext cx="5074920" cy="16916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3474720"/>
            <a:ext cx="73152" cy="1691640"/>
          </a:xfrm>
          <a:prstGeom prst="rect">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3639312"/>
            <a:ext cx="4709159" cy="320040"/>
          </a:xfrm>
          <a:prstGeom prst="rect">
            <a:avLst/>
          </a:prstGeom>
          <a:noFill/>
        </p:spPr>
        <p:txBody>
          <a:bodyPr wrap="square">
            <a:spAutoFit/>
          </a:bodyPr>
          <a:lstStyle/>
          <a:p>
            <a:pPr algn="l"/>
            <a:r>
              <a:rPr sz="1500" b="1">
                <a:solidFill>
                  <a:srgbClr val="F5892F"/>
                </a:solidFill>
              </a:rPr>
              <a:t>DRIVER CAPACITY</a:t>
            </a:r>
          </a:p>
        </p:txBody>
      </p:sp>
      <p:sp>
        <p:nvSpPr>
          <p:cNvPr id="16" name="TextBox 15"/>
          <p:cNvSpPr txBox="1"/>
          <p:nvPr/>
        </p:nvSpPr>
        <p:spPr>
          <a:xfrm>
            <a:off x="886968" y="4041648"/>
            <a:ext cx="4709159" cy="1005840"/>
          </a:xfrm>
          <a:prstGeom prst="rect">
            <a:avLst/>
          </a:prstGeom>
          <a:noFill/>
        </p:spPr>
        <p:txBody>
          <a:bodyPr wrap="square">
            <a:spAutoFit/>
          </a:bodyPr>
          <a:lstStyle/>
          <a:p>
            <a:pPr algn="l"/>
            <a:r>
              <a:rPr sz="1150" b="0">
                <a:solidFill>
                  <a:srgbClr val="1E2532"/>
                </a:solidFill>
              </a:rPr>
              <a:t>Study how incentives can influence driver supply and fleet allocation.</a:t>
            </a:r>
          </a:p>
        </p:txBody>
      </p:sp>
      <p:sp>
        <p:nvSpPr>
          <p:cNvPr id="17" name="Rounded Rectangle 16"/>
          <p:cNvSpPr/>
          <p:nvPr/>
        </p:nvSpPr>
        <p:spPr>
          <a:xfrm>
            <a:off x="6309360" y="3474720"/>
            <a:ext cx="5074920" cy="16916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3474720"/>
            <a:ext cx="73152" cy="1691640"/>
          </a:xfrm>
          <a:prstGeom prst="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8" y="3639312"/>
            <a:ext cx="4709159" cy="320040"/>
          </a:xfrm>
          <a:prstGeom prst="rect">
            <a:avLst/>
          </a:prstGeom>
          <a:noFill/>
        </p:spPr>
        <p:txBody>
          <a:bodyPr wrap="square">
            <a:spAutoFit/>
          </a:bodyPr>
          <a:lstStyle/>
          <a:p>
            <a:pPr algn="l"/>
            <a:r>
              <a:rPr sz="1500" b="1">
                <a:solidFill>
                  <a:srgbClr val="2FA671"/>
                </a:solidFill>
              </a:rPr>
              <a:t>POLICY &amp; SDG 8</a:t>
            </a:r>
          </a:p>
        </p:txBody>
      </p:sp>
      <p:sp>
        <p:nvSpPr>
          <p:cNvPr id="20" name="TextBox 19"/>
          <p:cNvSpPr txBox="1"/>
          <p:nvPr/>
        </p:nvSpPr>
        <p:spPr>
          <a:xfrm>
            <a:off x="6510528" y="4041648"/>
            <a:ext cx="4709159" cy="1005840"/>
          </a:xfrm>
          <a:prstGeom prst="rect">
            <a:avLst/>
          </a:prstGeom>
          <a:noFill/>
        </p:spPr>
        <p:txBody>
          <a:bodyPr wrap="square">
            <a:spAutoFit/>
          </a:bodyPr>
          <a:lstStyle/>
          <a:p>
            <a:pPr algn="l"/>
            <a:r>
              <a:rPr sz="1150" b="0">
                <a:solidFill>
                  <a:srgbClr val="1E2532"/>
                </a:solidFill>
              </a:rPr>
              <a:t>Explore fair-work concerns, transparency and possible regulatory responses.</a:t>
            </a:r>
          </a:p>
        </p:txBody>
      </p:sp>
      <p:sp>
        <p:nvSpPr>
          <p:cNvPr id="21" name="TextBox 20"/>
          <p:cNvSpPr txBox="1"/>
          <p:nvPr/>
        </p:nvSpPr>
        <p:spPr>
          <a:xfrm>
            <a:off x="777240" y="5715000"/>
            <a:ext cx="1371600" cy="274320"/>
          </a:xfrm>
          <a:prstGeom prst="rect">
            <a:avLst/>
          </a:prstGeom>
          <a:noFill/>
        </p:spPr>
        <p:txBody>
          <a:bodyPr wrap="square">
            <a:spAutoFit/>
          </a:bodyPr>
          <a:lstStyle/>
          <a:p>
            <a:pPr algn="l"/>
            <a:r>
              <a:rPr sz="1300" b="1">
                <a:solidFill>
                  <a:srgbClr val="141F3D"/>
                </a:solidFill>
              </a:rPr>
              <a:t>Core question:</a:t>
            </a:r>
          </a:p>
        </p:txBody>
      </p:sp>
      <p:sp>
        <p:nvSpPr>
          <p:cNvPr id="22" name="TextBox 21"/>
          <p:cNvSpPr txBox="1"/>
          <p:nvPr/>
        </p:nvSpPr>
        <p:spPr>
          <a:xfrm>
            <a:off x="2103120" y="5650992"/>
            <a:ext cx="9052560" cy="502920"/>
          </a:xfrm>
          <a:prstGeom prst="rect">
            <a:avLst/>
          </a:prstGeom>
          <a:noFill/>
        </p:spPr>
        <p:txBody>
          <a:bodyPr wrap="square">
            <a:spAutoFit/>
          </a:bodyPr>
          <a:lstStyle/>
          <a:p>
            <a:pPr algn="l"/>
            <a:r>
              <a:rPr sz="1400" b="1">
                <a:solidFill>
                  <a:srgbClr val="1E2532"/>
                </a:solidFill>
              </a:rPr>
              <a:t>How can ride-hailing platforms price rides efficiently while balancing riders, drivers, competition and fair-work outcomes?</a:t>
            </a:r>
          </a:p>
        </p:txBody>
      </p:sp>
      <p:sp>
        <p:nvSpPr>
          <p:cNvPr id="23" name="TextBox 22"/>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3/10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3. Objectives of the Study</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The project connects different subjects with real-world ride-hailing. We focus on how price changes affect demand, how riders respond to surge notifications, how drivers are allocated, and how Ola and Uber compete.</a:t>
            </a:r>
            <a:endParaRPr sz="1250" b="0" dirty="0">
              <a:solidFill>
                <a:srgbClr val="697587"/>
              </a:solidFill>
            </a:endParaRPr>
          </a:p>
        </p:txBody>
      </p:sp>
      <p:sp>
        <p:nvSpPr>
          <p:cNvPr id="5" name="Rounded Rectangle 4"/>
          <p:cNvSpPr/>
          <p:nvPr/>
        </p:nvSpPr>
        <p:spPr>
          <a:xfrm>
            <a:off x="594360" y="1325880"/>
            <a:ext cx="3429000" cy="1783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325880"/>
            <a:ext cx="73152" cy="178308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490472"/>
            <a:ext cx="3063240" cy="320040"/>
          </a:xfrm>
          <a:prstGeom prst="rect">
            <a:avLst/>
          </a:prstGeom>
          <a:noFill/>
        </p:spPr>
        <p:txBody>
          <a:bodyPr wrap="square">
            <a:spAutoFit/>
          </a:bodyPr>
          <a:lstStyle/>
          <a:p>
            <a:pPr algn="l"/>
            <a:r>
              <a:rPr sz="1500" b="1">
                <a:solidFill>
                  <a:srgbClr val="2478D6"/>
                </a:solidFill>
              </a:rPr>
              <a:t>CO1</a:t>
            </a:r>
          </a:p>
        </p:txBody>
      </p:sp>
      <p:sp>
        <p:nvSpPr>
          <p:cNvPr id="8" name="TextBox 7"/>
          <p:cNvSpPr txBox="1"/>
          <p:nvPr/>
        </p:nvSpPr>
        <p:spPr>
          <a:xfrm>
            <a:off x="795528" y="1892807"/>
            <a:ext cx="3063240" cy="1097280"/>
          </a:xfrm>
          <a:prstGeom prst="rect">
            <a:avLst/>
          </a:prstGeom>
          <a:noFill/>
        </p:spPr>
        <p:txBody>
          <a:bodyPr wrap="square">
            <a:spAutoFit/>
          </a:bodyPr>
          <a:lstStyle/>
          <a:p>
            <a:pPr algn="l"/>
            <a:r>
              <a:rPr sz="1150" b="0">
                <a:solidFill>
                  <a:srgbClr val="1E2532"/>
                </a:solidFill>
              </a:rPr>
              <a:t>Estimate demand response / elasticity under fare changes.</a:t>
            </a:r>
          </a:p>
        </p:txBody>
      </p:sp>
      <p:sp>
        <p:nvSpPr>
          <p:cNvPr id="9" name="Rounded Rectangle 8"/>
          <p:cNvSpPr/>
          <p:nvPr/>
        </p:nvSpPr>
        <p:spPr>
          <a:xfrm>
            <a:off x="4416552" y="1325880"/>
            <a:ext cx="3429000" cy="1783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16552" y="1325880"/>
            <a:ext cx="73152" cy="1783080"/>
          </a:xfrm>
          <a:prstGeom prst="rect">
            <a:avLst/>
          </a:prstGeom>
          <a:solidFill>
            <a:srgbClr val="22C1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490472"/>
            <a:ext cx="3063240" cy="320040"/>
          </a:xfrm>
          <a:prstGeom prst="rect">
            <a:avLst/>
          </a:prstGeom>
          <a:noFill/>
        </p:spPr>
        <p:txBody>
          <a:bodyPr wrap="square">
            <a:spAutoFit/>
          </a:bodyPr>
          <a:lstStyle/>
          <a:p>
            <a:pPr algn="l"/>
            <a:r>
              <a:rPr sz="1500" b="1">
                <a:solidFill>
                  <a:srgbClr val="22C1C3"/>
                </a:solidFill>
              </a:rPr>
              <a:t>CO2</a:t>
            </a:r>
          </a:p>
        </p:txBody>
      </p:sp>
      <p:sp>
        <p:nvSpPr>
          <p:cNvPr id="12" name="TextBox 11"/>
          <p:cNvSpPr txBox="1"/>
          <p:nvPr/>
        </p:nvSpPr>
        <p:spPr>
          <a:xfrm>
            <a:off x="4617720" y="1892807"/>
            <a:ext cx="3063240" cy="1097280"/>
          </a:xfrm>
          <a:prstGeom prst="rect">
            <a:avLst/>
          </a:prstGeom>
          <a:noFill/>
        </p:spPr>
        <p:txBody>
          <a:bodyPr wrap="square">
            <a:spAutoFit/>
          </a:bodyPr>
          <a:lstStyle/>
          <a:p>
            <a:pPr algn="l"/>
            <a:r>
              <a:rPr sz="1150" b="0">
                <a:solidFill>
                  <a:srgbClr val="1E2532"/>
                </a:solidFill>
              </a:rPr>
              <a:t>Analyse rider response to surge notifications and price transparency.</a:t>
            </a:r>
          </a:p>
        </p:txBody>
      </p:sp>
      <p:sp>
        <p:nvSpPr>
          <p:cNvPr id="13" name="Rounded Rectangle 12"/>
          <p:cNvSpPr/>
          <p:nvPr/>
        </p:nvSpPr>
        <p:spPr>
          <a:xfrm>
            <a:off x="8238744" y="1325880"/>
            <a:ext cx="3429000" cy="1783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38744" y="1325880"/>
            <a:ext cx="73152" cy="1783080"/>
          </a:xfrm>
          <a:prstGeom prst="rect">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9912" y="1490472"/>
            <a:ext cx="3063240" cy="320040"/>
          </a:xfrm>
          <a:prstGeom prst="rect">
            <a:avLst/>
          </a:prstGeom>
          <a:noFill/>
        </p:spPr>
        <p:txBody>
          <a:bodyPr wrap="square">
            <a:spAutoFit/>
          </a:bodyPr>
          <a:lstStyle/>
          <a:p>
            <a:pPr algn="l"/>
            <a:r>
              <a:rPr sz="1500" b="1">
                <a:solidFill>
                  <a:srgbClr val="F5892F"/>
                </a:solidFill>
              </a:rPr>
              <a:t>CO3</a:t>
            </a:r>
          </a:p>
        </p:txBody>
      </p:sp>
      <p:sp>
        <p:nvSpPr>
          <p:cNvPr id="16" name="TextBox 15"/>
          <p:cNvSpPr txBox="1"/>
          <p:nvPr/>
        </p:nvSpPr>
        <p:spPr>
          <a:xfrm>
            <a:off x="8439912" y="1892807"/>
            <a:ext cx="3063240" cy="1097280"/>
          </a:xfrm>
          <a:prstGeom prst="rect">
            <a:avLst/>
          </a:prstGeom>
          <a:noFill/>
        </p:spPr>
        <p:txBody>
          <a:bodyPr wrap="square">
            <a:spAutoFit/>
          </a:bodyPr>
          <a:lstStyle/>
          <a:p>
            <a:pPr algn="l"/>
            <a:r>
              <a:rPr sz="1150" b="0">
                <a:solidFill>
                  <a:srgbClr val="1E2532"/>
                </a:solidFill>
              </a:rPr>
              <a:t>Model driver capacity, fleet allocation and cost implications.</a:t>
            </a:r>
          </a:p>
        </p:txBody>
      </p:sp>
      <p:sp>
        <p:nvSpPr>
          <p:cNvPr id="17" name="Rounded Rectangle 16"/>
          <p:cNvSpPr/>
          <p:nvPr/>
        </p:nvSpPr>
        <p:spPr>
          <a:xfrm>
            <a:off x="594360" y="3566160"/>
            <a:ext cx="3429000" cy="1783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3566160"/>
            <a:ext cx="73152" cy="1783080"/>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 y="3730752"/>
            <a:ext cx="3063240" cy="320040"/>
          </a:xfrm>
          <a:prstGeom prst="rect">
            <a:avLst/>
          </a:prstGeom>
          <a:noFill/>
        </p:spPr>
        <p:txBody>
          <a:bodyPr wrap="square">
            <a:spAutoFit/>
          </a:bodyPr>
          <a:lstStyle/>
          <a:p>
            <a:pPr algn="l"/>
            <a:r>
              <a:rPr sz="1500" b="1">
                <a:solidFill>
                  <a:srgbClr val="704CB6"/>
                </a:solidFill>
              </a:rPr>
              <a:t>CO4</a:t>
            </a:r>
          </a:p>
        </p:txBody>
      </p:sp>
      <p:sp>
        <p:nvSpPr>
          <p:cNvPr id="20" name="TextBox 19"/>
          <p:cNvSpPr txBox="1"/>
          <p:nvPr/>
        </p:nvSpPr>
        <p:spPr>
          <a:xfrm>
            <a:off x="795528" y="4133088"/>
            <a:ext cx="3063240" cy="1097280"/>
          </a:xfrm>
          <a:prstGeom prst="rect">
            <a:avLst/>
          </a:prstGeom>
          <a:noFill/>
        </p:spPr>
        <p:txBody>
          <a:bodyPr wrap="square">
            <a:spAutoFit/>
          </a:bodyPr>
          <a:lstStyle/>
          <a:p>
            <a:pPr algn="l"/>
            <a:r>
              <a:rPr sz="1150" b="0">
                <a:solidFill>
                  <a:srgbClr val="1E2532"/>
                </a:solidFill>
              </a:rPr>
              <a:t>Apply competitive / duopoly thinking to Ola–Uber interaction.</a:t>
            </a:r>
          </a:p>
        </p:txBody>
      </p:sp>
      <p:sp>
        <p:nvSpPr>
          <p:cNvPr id="21" name="Rounded Rectangle 20"/>
          <p:cNvSpPr/>
          <p:nvPr/>
        </p:nvSpPr>
        <p:spPr>
          <a:xfrm>
            <a:off x="4416552" y="3566160"/>
            <a:ext cx="3429000" cy="1783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16552" y="3566160"/>
            <a:ext cx="73152" cy="1783080"/>
          </a:xfrm>
          <a:prstGeom prst="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17720" y="3730752"/>
            <a:ext cx="3063240" cy="320040"/>
          </a:xfrm>
          <a:prstGeom prst="rect">
            <a:avLst/>
          </a:prstGeom>
          <a:noFill/>
        </p:spPr>
        <p:txBody>
          <a:bodyPr wrap="square">
            <a:spAutoFit/>
          </a:bodyPr>
          <a:lstStyle/>
          <a:p>
            <a:pPr algn="l"/>
            <a:r>
              <a:rPr sz="1500" b="1">
                <a:solidFill>
                  <a:srgbClr val="2FA671"/>
                </a:solidFill>
              </a:rPr>
              <a:t>CO5</a:t>
            </a:r>
          </a:p>
        </p:txBody>
      </p:sp>
      <p:sp>
        <p:nvSpPr>
          <p:cNvPr id="24" name="TextBox 23"/>
          <p:cNvSpPr txBox="1"/>
          <p:nvPr/>
        </p:nvSpPr>
        <p:spPr>
          <a:xfrm>
            <a:off x="4617720" y="4133088"/>
            <a:ext cx="3063240" cy="1097280"/>
          </a:xfrm>
          <a:prstGeom prst="rect">
            <a:avLst/>
          </a:prstGeom>
          <a:noFill/>
        </p:spPr>
        <p:txBody>
          <a:bodyPr wrap="square">
            <a:spAutoFit/>
          </a:bodyPr>
          <a:lstStyle/>
          <a:p>
            <a:pPr algn="l"/>
            <a:r>
              <a:rPr sz="1150" b="0">
                <a:solidFill>
                  <a:srgbClr val="1E2532"/>
                </a:solidFill>
              </a:rPr>
              <a:t>Design a dynamic or yield-pricing framework using demand signals.</a:t>
            </a:r>
          </a:p>
        </p:txBody>
      </p:sp>
      <p:sp>
        <p:nvSpPr>
          <p:cNvPr id="25" name="Rounded Rectangle 24"/>
          <p:cNvSpPr/>
          <p:nvPr/>
        </p:nvSpPr>
        <p:spPr>
          <a:xfrm>
            <a:off x="8238744" y="3566160"/>
            <a:ext cx="3429000" cy="1783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38744" y="3566160"/>
            <a:ext cx="73152" cy="1783080"/>
          </a:xfrm>
          <a:prstGeom prst="rect">
            <a:avLst/>
          </a:prstGeom>
          <a:solidFill>
            <a:srgbClr val="E74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39912" y="3730752"/>
            <a:ext cx="3063240" cy="320040"/>
          </a:xfrm>
          <a:prstGeom prst="rect">
            <a:avLst/>
          </a:prstGeom>
          <a:noFill/>
        </p:spPr>
        <p:txBody>
          <a:bodyPr wrap="square">
            <a:spAutoFit/>
          </a:bodyPr>
          <a:lstStyle/>
          <a:p>
            <a:pPr algn="l"/>
            <a:r>
              <a:rPr sz="1500" b="1">
                <a:solidFill>
                  <a:srgbClr val="E74C78"/>
                </a:solidFill>
              </a:rPr>
              <a:t>CO6</a:t>
            </a:r>
          </a:p>
        </p:txBody>
      </p:sp>
      <p:sp>
        <p:nvSpPr>
          <p:cNvPr id="28" name="TextBox 27"/>
          <p:cNvSpPr txBox="1"/>
          <p:nvPr/>
        </p:nvSpPr>
        <p:spPr>
          <a:xfrm>
            <a:off x="8439912" y="4133088"/>
            <a:ext cx="3063240" cy="1097280"/>
          </a:xfrm>
          <a:prstGeom prst="rect">
            <a:avLst/>
          </a:prstGeom>
          <a:noFill/>
        </p:spPr>
        <p:txBody>
          <a:bodyPr wrap="square">
            <a:spAutoFit/>
          </a:bodyPr>
          <a:lstStyle/>
          <a:p>
            <a:pPr algn="l"/>
            <a:r>
              <a:rPr sz="1150" b="0">
                <a:solidFill>
                  <a:srgbClr val="1E2532"/>
                </a:solidFill>
              </a:rPr>
              <a:t>Identify gig-labour market failures and discuss SDG 8 regulation.</a:t>
            </a:r>
          </a:p>
        </p:txBody>
      </p:sp>
      <p:sp>
        <p:nvSpPr>
          <p:cNvPr id="29" name="TextBox 28"/>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4/10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4A. Subject Topic — Economics (CO1)</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From Economics, we use </a:t>
            </a:r>
            <a:r>
              <a:rPr lang="en-IN" sz="1400" b="1" dirty="0"/>
              <a:t>demand and supply analysis and price elasticity</a:t>
            </a:r>
            <a:r>
              <a:rPr lang="en-IN" sz="1400" dirty="0"/>
              <a:t>. When prices increase during surge periods, some customers may reduce or postpone their rides. This helps us understand how sensitive demand is to price changes.</a:t>
            </a:r>
            <a:endParaRPr sz="1250" b="0" dirty="0">
              <a:solidFill>
                <a:srgbClr val="697587"/>
              </a:solidFill>
            </a:endParaRPr>
          </a:p>
        </p:txBody>
      </p:sp>
      <p:sp>
        <p:nvSpPr>
          <p:cNvPr id="5" name="Rounded Rectangle 4"/>
          <p:cNvSpPr/>
          <p:nvPr/>
        </p:nvSpPr>
        <p:spPr>
          <a:xfrm>
            <a:off x="580644" y="1458468"/>
            <a:ext cx="466344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234440"/>
            <a:ext cx="73152" cy="448056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481328"/>
            <a:ext cx="4297679" cy="320040"/>
          </a:xfrm>
          <a:prstGeom prst="rect">
            <a:avLst/>
          </a:prstGeom>
          <a:noFill/>
        </p:spPr>
        <p:txBody>
          <a:bodyPr wrap="square">
            <a:spAutoFit/>
          </a:bodyPr>
          <a:lstStyle/>
          <a:p>
            <a:pPr algn="l"/>
            <a:r>
              <a:rPr sz="1500" b="1" dirty="0">
                <a:solidFill>
                  <a:srgbClr val="2478D6"/>
                </a:solidFill>
              </a:rPr>
              <a:t>WHY ECONOMICS?</a:t>
            </a:r>
          </a:p>
        </p:txBody>
      </p:sp>
      <p:sp>
        <p:nvSpPr>
          <p:cNvPr id="8" name="TextBox 7"/>
          <p:cNvSpPr txBox="1"/>
          <p:nvPr/>
        </p:nvSpPr>
        <p:spPr>
          <a:xfrm>
            <a:off x="795528" y="1801368"/>
            <a:ext cx="4297679" cy="3794760"/>
          </a:xfrm>
          <a:prstGeom prst="rect">
            <a:avLst/>
          </a:prstGeom>
          <a:noFill/>
        </p:spPr>
        <p:txBody>
          <a:bodyPr wrap="square">
            <a:spAutoFit/>
          </a:bodyPr>
          <a:lstStyle/>
          <a:p>
            <a:pPr algn="l"/>
            <a:r>
              <a:rPr sz="1150" b="0">
                <a:solidFill>
                  <a:srgbClr val="1E2532"/>
                </a:solidFill>
              </a:rPr>
              <a:t>Surge pricing is fundamentally a demand–supply problem. Economics helps quantify how sensitive ride demand is to price and predict outcomes under taxes, subsidies or regulation.
Key measures:
• Price elasticity of demand
• Equilibrium price &amp; quantity
• Demand/supply shifts
• Welfare and policy effects</a:t>
            </a:r>
          </a:p>
        </p:txBody>
      </p:sp>
      <p:graphicFrame>
        <p:nvGraphicFramePr>
          <p:cNvPr id="9" name="Chart 8"/>
          <p:cNvGraphicFramePr>
            <a:graphicFrameLocks noGrp="1"/>
          </p:cNvGraphicFramePr>
          <p:nvPr/>
        </p:nvGraphicFramePr>
        <p:xfrm>
          <a:off x="5577840" y="1417320"/>
          <a:ext cx="580644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5760720" y="5074920"/>
            <a:ext cx="5394960" cy="411480"/>
          </a:xfrm>
          <a:prstGeom prst="rect">
            <a:avLst/>
          </a:prstGeom>
          <a:noFill/>
        </p:spPr>
        <p:txBody>
          <a:bodyPr wrap="square">
            <a:spAutoFit/>
          </a:bodyPr>
          <a:lstStyle/>
          <a:p>
            <a:pPr algn="ctr"/>
            <a:r>
              <a:rPr sz="1200" b="0">
                <a:solidFill>
                  <a:srgbClr val="697587"/>
                </a:solidFill>
              </a:rPr>
              <a:t>Illustrative relationship: higher fare → fewer rides demanded</a:t>
            </a:r>
          </a:p>
        </p:txBody>
      </p:sp>
      <p:sp>
        <p:nvSpPr>
          <p:cNvPr id="11" name="Rounded Rectangle 10"/>
          <p:cNvSpPr/>
          <p:nvPr/>
        </p:nvSpPr>
        <p:spPr>
          <a:xfrm>
            <a:off x="5806440" y="5623560"/>
            <a:ext cx="5303520" cy="384048"/>
          </a:xfrm>
          <a:prstGeom prst="round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Elasticity = % change in quantity demanded ÷ % change in price</a:t>
            </a:r>
          </a:p>
        </p:txBody>
      </p:sp>
      <p:sp>
        <p:nvSpPr>
          <p:cNvPr id="12" name="TextBox 11"/>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5/10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4B. Subject Topic — Business Environment (CO2)</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We also use </a:t>
            </a:r>
            <a:r>
              <a:rPr lang="en-IN" sz="1400" b="1" dirty="0"/>
              <a:t>Porter’s Five Forces</a:t>
            </a:r>
            <a:r>
              <a:rPr lang="en-IN" sz="1400" dirty="0"/>
              <a:t> to analyse the industry. We look at competition between Ola and Uber, the bargaining power of riders and drivers, the threat of substitutes like public transport, and the possibility of new competitors.</a:t>
            </a:r>
            <a:endParaRPr sz="1250" b="0" dirty="0">
              <a:solidFill>
                <a:srgbClr val="697587"/>
              </a:solidFill>
            </a:endParaRPr>
          </a:p>
        </p:txBody>
      </p:sp>
      <p:sp>
        <p:nvSpPr>
          <p:cNvPr id="5" name="Rounded Rectangle 4"/>
          <p:cNvSpPr/>
          <p:nvPr/>
        </p:nvSpPr>
        <p:spPr>
          <a:xfrm>
            <a:off x="502920" y="1417320"/>
            <a:ext cx="2057400" cy="4114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417320"/>
            <a:ext cx="73152" cy="4114800"/>
          </a:xfrm>
          <a:prstGeom prst="rect">
            <a:avLst/>
          </a:prstGeom>
          <a:solidFill>
            <a:srgbClr val="E74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581912"/>
            <a:ext cx="1691640" cy="320040"/>
          </a:xfrm>
          <a:prstGeom prst="rect">
            <a:avLst/>
          </a:prstGeom>
          <a:noFill/>
        </p:spPr>
        <p:txBody>
          <a:bodyPr wrap="square">
            <a:spAutoFit/>
          </a:bodyPr>
          <a:lstStyle/>
          <a:p>
            <a:pPr algn="l"/>
            <a:r>
              <a:rPr sz="1500" b="1">
                <a:solidFill>
                  <a:srgbClr val="E74C78"/>
                </a:solidFill>
              </a:rPr>
              <a:t>Rivalry</a:t>
            </a:r>
          </a:p>
        </p:txBody>
      </p:sp>
      <p:sp>
        <p:nvSpPr>
          <p:cNvPr id="8" name="TextBox 7"/>
          <p:cNvSpPr txBox="1"/>
          <p:nvPr/>
        </p:nvSpPr>
        <p:spPr>
          <a:xfrm>
            <a:off x="704088" y="1984248"/>
            <a:ext cx="1691640" cy="3429000"/>
          </a:xfrm>
          <a:prstGeom prst="rect">
            <a:avLst/>
          </a:prstGeom>
          <a:noFill/>
        </p:spPr>
        <p:txBody>
          <a:bodyPr wrap="square">
            <a:spAutoFit/>
          </a:bodyPr>
          <a:lstStyle/>
          <a:p>
            <a:pPr algn="l"/>
            <a:r>
              <a:rPr sz="1150" b="0">
                <a:solidFill>
                  <a:srgbClr val="1E2532"/>
                </a:solidFill>
              </a:rPr>
              <a:t>HIGH
Ola ↔ Uber ↔ other mobility options</a:t>
            </a:r>
          </a:p>
        </p:txBody>
      </p:sp>
      <p:sp>
        <p:nvSpPr>
          <p:cNvPr id="9" name="Rounded Rectangle 8"/>
          <p:cNvSpPr/>
          <p:nvPr/>
        </p:nvSpPr>
        <p:spPr>
          <a:xfrm>
            <a:off x="2834639" y="1417320"/>
            <a:ext cx="2057400" cy="4114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34639" y="1417320"/>
            <a:ext cx="73152" cy="411480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35808" y="1581912"/>
            <a:ext cx="1691640" cy="320040"/>
          </a:xfrm>
          <a:prstGeom prst="rect">
            <a:avLst/>
          </a:prstGeom>
          <a:noFill/>
        </p:spPr>
        <p:txBody>
          <a:bodyPr wrap="square">
            <a:spAutoFit/>
          </a:bodyPr>
          <a:lstStyle/>
          <a:p>
            <a:pPr algn="l"/>
            <a:r>
              <a:rPr sz="1500" b="1">
                <a:solidFill>
                  <a:srgbClr val="2478D6"/>
                </a:solidFill>
              </a:rPr>
              <a:t>Buyer Power</a:t>
            </a:r>
          </a:p>
        </p:txBody>
      </p:sp>
      <p:sp>
        <p:nvSpPr>
          <p:cNvPr id="12" name="TextBox 11"/>
          <p:cNvSpPr txBox="1"/>
          <p:nvPr/>
        </p:nvSpPr>
        <p:spPr>
          <a:xfrm>
            <a:off x="3035808" y="1984248"/>
            <a:ext cx="1691640" cy="3429000"/>
          </a:xfrm>
          <a:prstGeom prst="rect">
            <a:avLst/>
          </a:prstGeom>
          <a:noFill/>
        </p:spPr>
        <p:txBody>
          <a:bodyPr wrap="square">
            <a:spAutoFit/>
          </a:bodyPr>
          <a:lstStyle/>
          <a:p>
            <a:pPr algn="l"/>
            <a:r>
              <a:rPr sz="1150" b="0">
                <a:solidFill>
                  <a:srgbClr val="1E2532"/>
                </a:solidFill>
              </a:rPr>
              <a:t>HIGH
Price-sensitive riders can compare apps</a:t>
            </a:r>
          </a:p>
        </p:txBody>
      </p:sp>
      <p:sp>
        <p:nvSpPr>
          <p:cNvPr id="13" name="Rounded Rectangle 12"/>
          <p:cNvSpPr/>
          <p:nvPr/>
        </p:nvSpPr>
        <p:spPr>
          <a:xfrm>
            <a:off x="5166359" y="1417320"/>
            <a:ext cx="2057400" cy="4114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166359" y="1417320"/>
            <a:ext cx="73152" cy="4114800"/>
          </a:xfrm>
          <a:prstGeom prst="rect">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67527" y="1581912"/>
            <a:ext cx="1691640" cy="320040"/>
          </a:xfrm>
          <a:prstGeom prst="rect">
            <a:avLst/>
          </a:prstGeom>
          <a:noFill/>
        </p:spPr>
        <p:txBody>
          <a:bodyPr wrap="square">
            <a:spAutoFit/>
          </a:bodyPr>
          <a:lstStyle/>
          <a:p>
            <a:pPr algn="l"/>
            <a:r>
              <a:rPr sz="1500" b="1">
                <a:solidFill>
                  <a:srgbClr val="F5892F"/>
                </a:solidFill>
              </a:rPr>
              <a:t>Supplier Power</a:t>
            </a:r>
          </a:p>
        </p:txBody>
      </p:sp>
      <p:sp>
        <p:nvSpPr>
          <p:cNvPr id="16" name="TextBox 15"/>
          <p:cNvSpPr txBox="1"/>
          <p:nvPr/>
        </p:nvSpPr>
        <p:spPr>
          <a:xfrm>
            <a:off x="5367527" y="1984248"/>
            <a:ext cx="1691640" cy="3429000"/>
          </a:xfrm>
          <a:prstGeom prst="rect">
            <a:avLst/>
          </a:prstGeom>
          <a:noFill/>
        </p:spPr>
        <p:txBody>
          <a:bodyPr wrap="square">
            <a:spAutoFit/>
          </a:bodyPr>
          <a:lstStyle/>
          <a:p>
            <a:pPr algn="l"/>
            <a:r>
              <a:rPr sz="1150" b="0">
                <a:solidFill>
                  <a:srgbClr val="1E2532"/>
                </a:solidFill>
              </a:rPr>
              <a:t>MED–HIGH
Drivers can multi-home across platforms</a:t>
            </a:r>
          </a:p>
        </p:txBody>
      </p:sp>
      <p:sp>
        <p:nvSpPr>
          <p:cNvPr id="17" name="Rounded Rectangle 16"/>
          <p:cNvSpPr/>
          <p:nvPr/>
        </p:nvSpPr>
        <p:spPr>
          <a:xfrm>
            <a:off x="7498079" y="1417320"/>
            <a:ext cx="2057400" cy="4114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498079" y="1417320"/>
            <a:ext cx="73152" cy="4114800"/>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1581912"/>
            <a:ext cx="1691640" cy="320040"/>
          </a:xfrm>
          <a:prstGeom prst="rect">
            <a:avLst/>
          </a:prstGeom>
          <a:noFill/>
        </p:spPr>
        <p:txBody>
          <a:bodyPr wrap="square">
            <a:spAutoFit/>
          </a:bodyPr>
          <a:lstStyle/>
          <a:p>
            <a:pPr algn="l"/>
            <a:r>
              <a:rPr sz="1500" b="1">
                <a:solidFill>
                  <a:srgbClr val="704CB6"/>
                </a:solidFill>
              </a:rPr>
              <a:t>New Entrants</a:t>
            </a:r>
          </a:p>
        </p:txBody>
      </p:sp>
      <p:sp>
        <p:nvSpPr>
          <p:cNvPr id="20" name="TextBox 19"/>
          <p:cNvSpPr txBox="1"/>
          <p:nvPr/>
        </p:nvSpPr>
        <p:spPr>
          <a:xfrm>
            <a:off x="7699248" y="1984248"/>
            <a:ext cx="1691640" cy="3429000"/>
          </a:xfrm>
          <a:prstGeom prst="rect">
            <a:avLst/>
          </a:prstGeom>
          <a:noFill/>
        </p:spPr>
        <p:txBody>
          <a:bodyPr wrap="square">
            <a:spAutoFit/>
          </a:bodyPr>
          <a:lstStyle/>
          <a:p>
            <a:pPr algn="l"/>
            <a:r>
              <a:rPr sz="1150" b="0">
                <a:solidFill>
                  <a:srgbClr val="1E2532"/>
                </a:solidFill>
              </a:rPr>
              <a:t>MED
Technology helps entry, but scale is difficult</a:t>
            </a:r>
          </a:p>
        </p:txBody>
      </p:sp>
      <p:sp>
        <p:nvSpPr>
          <p:cNvPr id="21" name="Rounded Rectangle 20"/>
          <p:cNvSpPr/>
          <p:nvPr/>
        </p:nvSpPr>
        <p:spPr>
          <a:xfrm>
            <a:off x="9829800" y="1417320"/>
            <a:ext cx="2057400" cy="4114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829800" y="1417320"/>
            <a:ext cx="73152" cy="4114800"/>
          </a:xfrm>
          <a:prstGeom prst="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30968" y="1581912"/>
            <a:ext cx="1691640" cy="320040"/>
          </a:xfrm>
          <a:prstGeom prst="rect">
            <a:avLst/>
          </a:prstGeom>
          <a:noFill/>
        </p:spPr>
        <p:txBody>
          <a:bodyPr wrap="square">
            <a:spAutoFit/>
          </a:bodyPr>
          <a:lstStyle/>
          <a:p>
            <a:pPr algn="l"/>
            <a:r>
              <a:rPr sz="1500" b="1">
                <a:solidFill>
                  <a:srgbClr val="2FA671"/>
                </a:solidFill>
              </a:rPr>
              <a:t>Substitutes</a:t>
            </a:r>
          </a:p>
        </p:txBody>
      </p:sp>
      <p:sp>
        <p:nvSpPr>
          <p:cNvPr id="24" name="TextBox 23"/>
          <p:cNvSpPr txBox="1"/>
          <p:nvPr/>
        </p:nvSpPr>
        <p:spPr>
          <a:xfrm>
            <a:off x="10030968" y="1984248"/>
            <a:ext cx="1691640" cy="3429000"/>
          </a:xfrm>
          <a:prstGeom prst="rect">
            <a:avLst/>
          </a:prstGeom>
          <a:noFill/>
        </p:spPr>
        <p:txBody>
          <a:bodyPr wrap="square">
            <a:spAutoFit/>
          </a:bodyPr>
          <a:lstStyle/>
          <a:p>
            <a:pPr algn="l"/>
            <a:r>
              <a:rPr sz="1150" b="0">
                <a:solidFill>
                  <a:srgbClr val="1E2532"/>
                </a:solidFill>
              </a:rPr>
              <a:t>HIGH
Metro, buses, autos, taxis, personal vehicles</a:t>
            </a:r>
          </a:p>
        </p:txBody>
      </p:sp>
      <p:sp>
        <p:nvSpPr>
          <p:cNvPr id="25" name="TextBox 24"/>
          <p:cNvSpPr txBox="1"/>
          <p:nvPr/>
        </p:nvSpPr>
        <p:spPr>
          <a:xfrm>
            <a:off x="640080" y="5806440"/>
            <a:ext cx="1234440" cy="274320"/>
          </a:xfrm>
          <a:prstGeom prst="rect">
            <a:avLst/>
          </a:prstGeom>
          <a:noFill/>
        </p:spPr>
        <p:txBody>
          <a:bodyPr wrap="square">
            <a:spAutoFit/>
          </a:bodyPr>
          <a:lstStyle/>
          <a:p>
            <a:pPr algn="l"/>
            <a:r>
              <a:rPr sz="1200" b="1">
                <a:solidFill>
                  <a:srgbClr val="141F3D"/>
                </a:solidFill>
              </a:rPr>
              <a:t>JUSTIFICATION</a:t>
            </a:r>
          </a:p>
        </p:txBody>
      </p:sp>
      <p:sp>
        <p:nvSpPr>
          <p:cNvPr id="26" name="TextBox 25"/>
          <p:cNvSpPr txBox="1"/>
          <p:nvPr/>
        </p:nvSpPr>
        <p:spPr>
          <a:xfrm>
            <a:off x="1828800" y="5760720"/>
            <a:ext cx="9601200" cy="411480"/>
          </a:xfrm>
          <a:prstGeom prst="rect">
            <a:avLst/>
          </a:prstGeom>
          <a:noFill/>
        </p:spPr>
        <p:txBody>
          <a:bodyPr wrap="square">
            <a:spAutoFit/>
          </a:bodyPr>
          <a:lstStyle/>
          <a:p>
            <a:pPr algn="l"/>
            <a:r>
              <a:rPr sz="1300" b="0">
                <a:solidFill>
                  <a:srgbClr val="1E2532"/>
                </a:solidFill>
              </a:rPr>
              <a:t>Five Forces explains the competitive environment behind pricing decisions — not just the fare itself.</a:t>
            </a:r>
          </a:p>
        </p:txBody>
      </p:sp>
      <p:sp>
        <p:nvSpPr>
          <p:cNvPr id="27" name="TextBox 26"/>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6/10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4C. Subject Topic — Python (CO3)</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For the technical part, we use </a:t>
            </a:r>
            <a:r>
              <a:rPr lang="en-IN" sz="1400" b="1" dirty="0"/>
              <a:t>Python</a:t>
            </a:r>
            <a:r>
              <a:rPr lang="en-IN" sz="1400" dirty="0"/>
              <a:t>, especially Matplotlib and </a:t>
            </a:r>
            <a:r>
              <a:rPr lang="en-IN" sz="1400" dirty="0" err="1"/>
              <a:t>Plotly</a:t>
            </a:r>
            <a:r>
              <a:rPr lang="en-IN" sz="1400" dirty="0"/>
              <a:t>. These tools help us convert our data into clear graphs and interactive visualisations, making the results easier to understand.</a:t>
            </a:r>
            <a:endParaRPr sz="1250" b="0" dirty="0">
              <a:solidFill>
                <a:srgbClr val="697587"/>
              </a:solidFill>
            </a:endParaRPr>
          </a:p>
        </p:txBody>
      </p:sp>
      <p:sp>
        <p:nvSpPr>
          <p:cNvPr id="5" name="Rounded Rectangle 4"/>
          <p:cNvSpPr/>
          <p:nvPr/>
        </p:nvSpPr>
        <p:spPr>
          <a:xfrm>
            <a:off x="579121" y="1393454"/>
            <a:ext cx="3474720" cy="43434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234440"/>
            <a:ext cx="73152" cy="434340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399032"/>
            <a:ext cx="3108960" cy="320040"/>
          </a:xfrm>
          <a:prstGeom prst="rect">
            <a:avLst/>
          </a:prstGeom>
          <a:noFill/>
        </p:spPr>
        <p:txBody>
          <a:bodyPr wrap="square">
            <a:spAutoFit/>
          </a:bodyPr>
          <a:lstStyle/>
          <a:p>
            <a:pPr algn="l"/>
            <a:r>
              <a:rPr sz="1500" b="1">
                <a:solidFill>
                  <a:srgbClr val="2478D6"/>
                </a:solidFill>
              </a:rPr>
              <a:t>MATPLOTLIB</a:t>
            </a:r>
          </a:p>
        </p:txBody>
      </p:sp>
      <p:sp>
        <p:nvSpPr>
          <p:cNvPr id="8" name="TextBox 7"/>
          <p:cNvSpPr txBox="1"/>
          <p:nvPr/>
        </p:nvSpPr>
        <p:spPr>
          <a:xfrm>
            <a:off x="795528" y="1801368"/>
            <a:ext cx="3108960" cy="3657600"/>
          </a:xfrm>
          <a:prstGeom prst="rect">
            <a:avLst/>
          </a:prstGeom>
          <a:noFill/>
        </p:spPr>
        <p:txBody>
          <a:bodyPr wrap="square">
            <a:spAutoFit/>
          </a:bodyPr>
          <a:lstStyle/>
          <a:p>
            <a:pPr algn="l"/>
            <a:r>
              <a:rPr sz="1150" b="0">
                <a:solidFill>
                  <a:srgbClr val="1E2532"/>
                </a:solidFill>
              </a:rPr>
              <a:t>Use for clean, publication-ready static charts:
• Surge multiplier vs. ride demand
• Elasticity estimates
• Driver supply and earnings
• Cost / revenue comparisons</a:t>
            </a:r>
          </a:p>
        </p:txBody>
      </p:sp>
      <p:sp>
        <p:nvSpPr>
          <p:cNvPr id="9" name="Rounded Rectangle 8"/>
          <p:cNvSpPr/>
          <p:nvPr/>
        </p:nvSpPr>
        <p:spPr>
          <a:xfrm>
            <a:off x="4370832" y="1234440"/>
            <a:ext cx="3474720" cy="43434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832" y="1234440"/>
            <a:ext cx="73152" cy="4343400"/>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399032"/>
            <a:ext cx="3108960" cy="320040"/>
          </a:xfrm>
          <a:prstGeom prst="rect">
            <a:avLst/>
          </a:prstGeom>
          <a:noFill/>
        </p:spPr>
        <p:txBody>
          <a:bodyPr wrap="square">
            <a:spAutoFit/>
          </a:bodyPr>
          <a:lstStyle/>
          <a:p>
            <a:pPr algn="l"/>
            <a:r>
              <a:rPr sz="1500" b="1">
                <a:solidFill>
                  <a:srgbClr val="704CB6"/>
                </a:solidFill>
              </a:rPr>
              <a:t>PLOTLY</a:t>
            </a:r>
          </a:p>
        </p:txBody>
      </p:sp>
      <p:sp>
        <p:nvSpPr>
          <p:cNvPr id="12" name="TextBox 11"/>
          <p:cNvSpPr txBox="1"/>
          <p:nvPr/>
        </p:nvSpPr>
        <p:spPr>
          <a:xfrm>
            <a:off x="4572000" y="1801368"/>
            <a:ext cx="3108960" cy="3657600"/>
          </a:xfrm>
          <a:prstGeom prst="rect">
            <a:avLst/>
          </a:prstGeom>
          <a:noFill/>
        </p:spPr>
        <p:txBody>
          <a:bodyPr wrap="square">
            <a:spAutoFit/>
          </a:bodyPr>
          <a:lstStyle/>
          <a:p>
            <a:pPr algn="l"/>
            <a:r>
              <a:rPr sz="1150" b="0">
                <a:solidFill>
                  <a:srgbClr val="1E2532"/>
                </a:solidFill>
              </a:rPr>
              <a:t>Use for interactive dashboards:
• Hover over time periods
• Filter by city / hour
• Compare platforms
• Explore surge and demand together</a:t>
            </a:r>
          </a:p>
        </p:txBody>
      </p:sp>
      <p:graphicFrame>
        <p:nvGraphicFramePr>
          <p:cNvPr id="13" name="Chart 12"/>
          <p:cNvGraphicFramePr>
            <a:graphicFrameLocks noGrp="1"/>
          </p:cNvGraphicFramePr>
          <p:nvPr/>
        </p:nvGraphicFramePr>
        <p:xfrm>
          <a:off x="8183879" y="1417320"/>
          <a:ext cx="3429000"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8412480" y="4526280"/>
            <a:ext cx="2926080" cy="274320"/>
          </a:xfrm>
          <a:prstGeom prst="rect">
            <a:avLst/>
          </a:prstGeom>
          <a:noFill/>
        </p:spPr>
        <p:txBody>
          <a:bodyPr wrap="square">
            <a:spAutoFit/>
          </a:bodyPr>
          <a:lstStyle/>
          <a:p>
            <a:pPr algn="ctr"/>
            <a:r>
              <a:rPr sz="1200" b="0">
                <a:solidFill>
                  <a:srgbClr val="697587"/>
                </a:solidFill>
              </a:rPr>
              <a:t>Example dashboard view</a:t>
            </a:r>
          </a:p>
        </p:txBody>
      </p:sp>
      <p:sp>
        <p:nvSpPr>
          <p:cNvPr id="15" name="Rounded Rectangle 14"/>
          <p:cNvSpPr/>
          <p:nvPr/>
        </p:nvSpPr>
        <p:spPr>
          <a:xfrm>
            <a:off x="2743200" y="5715000"/>
            <a:ext cx="6720840" cy="384048"/>
          </a:xfrm>
          <a:prstGeom prst="round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Why selected: Python turns raw mobility data into evidence, patterns and decision-ready visuals.</a:t>
            </a:r>
          </a:p>
        </p:txBody>
      </p:sp>
      <p:sp>
        <p:nvSpPr>
          <p:cNvPr id="16" name="TextBox 15"/>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7/10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141F3D"/>
                </a:solidFill>
              </a:rPr>
              <a:t>5. Project Approach / Methodology</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t>Our methodology starts with collecting relevant data. Then we clean the data, analyse demand, prices and driver capacity, and create visualisations. Finally, we identify the findings and prepare our report.</a:t>
            </a:r>
            <a:endParaRPr sz="1250" b="0" dirty="0">
              <a:solidFill>
                <a:srgbClr val="697587"/>
              </a:solidFill>
            </a:endParaRPr>
          </a:p>
        </p:txBody>
      </p:sp>
      <p:sp>
        <p:nvSpPr>
          <p:cNvPr id="5" name="Rounded Rectangle 4"/>
          <p:cNvSpPr/>
          <p:nvPr/>
        </p:nvSpPr>
        <p:spPr>
          <a:xfrm>
            <a:off x="533401" y="1316736"/>
            <a:ext cx="342900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234440"/>
            <a:ext cx="73152" cy="1874519"/>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399032"/>
            <a:ext cx="3063240" cy="320040"/>
          </a:xfrm>
          <a:prstGeom prst="rect">
            <a:avLst/>
          </a:prstGeom>
          <a:noFill/>
        </p:spPr>
        <p:txBody>
          <a:bodyPr wrap="square">
            <a:spAutoFit/>
          </a:bodyPr>
          <a:lstStyle/>
          <a:p>
            <a:pPr algn="l"/>
            <a:r>
              <a:rPr sz="1500" b="1">
                <a:solidFill>
                  <a:srgbClr val="2478D6"/>
                </a:solidFill>
              </a:rPr>
              <a:t>1. DATA COLLECTION</a:t>
            </a:r>
          </a:p>
        </p:txBody>
      </p:sp>
      <p:sp>
        <p:nvSpPr>
          <p:cNvPr id="8" name="TextBox 7"/>
          <p:cNvSpPr txBox="1"/>
          <p:nvPr/>
        </p:nvSpPr>
        <p:spPr>
          <a:xfrm>
            <a:off x="749808" y="1801368"/>
            <a:ext cx="3063240" cy="1188719"/>
          </a:xfrm>
          <a:prstGeom prst="rect">
            <a:avLst/>
          </a:prstGeom>
          <a:noFill/>
        </p:spPr>
        <p:txBody>
          <a:bodyPr wrap="square">
            <a:spAutoFit/>
          </a:bodyPr>
          <a:lstStyle/>
          <a:p>
            <a:pPr algn="l"/>
            <a:r>
              <a:rPr sz="1150" b="0">
                <a:solidFill>
                  <a:srgbClr val="1E2532"/>
                </a:solidFill>
              </a:rPr>
              <a:t>Public reports, platform observations, survey responses and secondary market data.</a:t>
            </a:r>
          </a:p>
        </p:txBody>
      </p:sp>
      <p:sp>
        <p:nvSpPr>
          <p:cNvPr id="9" name="Rounded Rectangle 8"/>
          <p:cNvSpPr/>
          <p:nvPr/>
        </p:nvSpPr>
        <p:spPr>
          <a:xfrm>
            <a:off x="4389120" y="1355278"/>
            <a:ext cx="342900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9779" y="1355277"/>
            <a:ext cx="73152" cy="1874519"/>
          </a:xfrm>
          <a:prstGeom prst="rect">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399032"/>
            <a:ext cx="3063240" cy="320040"/>
          </a:xfrm>
          <a:prstGeom prst="rect">
            <a:avLst/>
          </a:prstGeom>
          <a:noFill/>
        </p:spPr>
        <p:txBody>
          <a:bodyPr wrap="square">
            <a:spAutoFit/>
          </a:bodyPr>
          <a:lstStyle/>
          <a:p>
            <a:pPr algn="l"/>
            <a:r>
              <a:rPr sz="1500" b="1">
                <a:solidFill>
                  <a:srgbClr val="F5892F"/>
                </a:solidFill>
              </a:rPr>
              <a:t>2. DATA CLEANING</a:t>
            </a:r>
          </a:p>
        </p:txBody>
      </p:sp>
      <p:sp>
        <p:nvSpPr>
          <p:cNvPr id="12" name="TextBox 11"/>
          <p:cNvSpPr txBox="1"/>
          <p:nvPr/>
        </p:nvSpPr>
        <p:spPr>
          <a:xfrm>
            <a:off x="4590288" y="1801368"/>
            <a:ext cx="3063240" cy="1188719"/>
          </a:xfrm>
          <a:prstGeom prst="rect">
            <a:avLst/>
          </a:prstGeom>
          <a:noFill/>
        </p:spPr>
        <p:txBody>
          <a:bodyPr wrap="square">
            <a:spAutoFit/>
          </a:bodyPr>
          <a:lstStyle/>
          <a:p>
            <a:pPr algn="l"/>
            <a:r>
              <a:rPr sz="1150" b="0">
                <a:solidFill>
                  <a:srgbClr val="1E2532"/>
                </a:solidFill>
              </a:rPr>
              <a:t>Remove duplicates, handle missing values, standardise fares, times and locations.</a:t>
            </a:r>
          </a:p>
        </p:txBody>
      </p:sp>
      <p:sp>
        <p:nvSpPr>
          <p:cNvPr id="13" name="Rounded Rectangle 12"/>
          <p:cNvSpPr/>
          <p:nvPr/>
        </p:nvSpPr>
        <p:spPr>
          <a:xfrm>
            <a:off x="8229600" y="1234440"/>
            <a:ext cx="342900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234440"/>
            <a:ext cx="73152" cy="1874519"/>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0768" y="1399032"/>
            <a:ext cx="3063240" cy="320040"/>
          </a:xfrm>
          <a:prstGeom prst="rect">
            <a:avLst/>
          </a:prstGeom>
          <a:noFill/>
        </p:spPr>
        <p:txBody>
          <a:bodyPr wrap="square">
            <a:spAutoFit/>
          </a:bodyPr>
          <a:lstStyle/>
          <a:p>
            <a:pPr algn="l"/>
            <a:r>
              <a:rPr sz="1500" b="1">
                <a:solidFill>
                  <a:srgbClr val="704CB6"/>
                </a:solidFill>
              </a:rPr>
              <a:t>3. DATA ANALYSIS</a:t>
            </a:r>
          </a:p>
        </p:txBody>
      </p:sp>
      <p:sp>
        <p:nvSpPr>
          <p:cNvPr id="16" name="TextBox 15"/>
          <p:cNvSpPr txBox="1"/>
          <p:nvPr/>
        </p:nvSpPr>
        <p:spPr>
          <a:xfrm>
            <a:off x="8430768" y="1801368"/>
            <a:ext cx="3063240" cy="1188719"/>
          </a:xfrm>
          <a:prstGeom prst="rect">
            <a:avLst/>
          </a:prstGeom>
          <a:noFill/>
        </p:spPr>
        <p:txBody>
          <a:bodyPr wrap="square">
            <a:spAutoFit/>
          </a:bodyPr>
          <a:lstStyle/>
          <a:p>
            <a:pPr algn="l"/>
            <a:r>
              <a:rPr sz="1150" b="0">
                <a:solidFill>
                  <a:srgbClr val="1E2532"/>
                </a:solidFill>
              </a:rPr>
              <a:t>Estimate elasticity; compare surge levels; analyse competition, capacity and costs.</a:t>
            </a:r>
          </a:p>
        </p:txBody>
      </p:sp>
      <p:sp>
        <p:nvSpPr>
          <p:cNvPr id="17" name="Rounded Rectangle 16"/>
          <p:cNvSpPr/>
          <p:nvPr/>
        </p:nvSpPr>
        <p:spPr>
          <a:xfrm>
            <a:off x="548640" y="3520440"/>
            <a:ext cx="342900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520440"/>
            <a:ext cx="73152" cy="1874519"/>
          </a:xfrm>
          <a:prstGeom prst="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3685032"/>
            <a:ext cx="3063240" cy="320040"/>
          </a:xfrm>
          <a:prstGeom prst="rect">
            <a:avLst/>
          </a:prstGeom>
          <a:noFill/>
        </p:spPr>
        <p:txBody>
          <a:bodyPr wrap="square">
            <a:spAutoFit/>
          </a:bodyPr>
          <a:lstStyle/>
          <a:p>
            <a:pPr algn="l"/>
            <a:r>
              <a:rPr sz="1500" b="1">
                <a:solidFill>
                  <a:srgbClr val="2FA671"/>
                </a:solidFill>
              </a:rPr>
              <a:t>4. VISUALISATION</a:t>
            </a:r>
          </a:p>
        </p:txBody>
      </p:sp>
      <p:sp>
        <p:nvSpPr>
          <p:cNvPr id="20" name="TextBox 19"/>
          <p:cNvSpPr txBox="1"/>
          <p:nvPr/>
        </p:nvSpPr>
        <p:spPr>
          <a:xfrm>
            <a:off x="749808" y="4087368"/>
            <a:ext cx="3063240" cy="1188719"/>
          </a:xfrm>
          <a:prstGeom prst="rect">
            <a:avLst/>
          </a:prstGeom>
          <a:noFill/>
        </p:spPr>
        <p:txBody>
          <a:bodyPr wrap="square">
            <a:spAutoFit/>
          </a:bodyPr>
          <a:lstStyle/>
          <a:p>
            <a:pPr algn="l"/>
            <a:r>
              <a:rPr sz="1150" b="0">
                <a:solidFill>
                  <a:srgbClr val="1E2532"/>
                </a:solidFill>
              </a:rPr>
              <a:t>Create Matplotlib charts and Plotly interactive views for business reporting.</a:t>
            </a:r>
          </a:p>
        </p:txBody>
      </p:sp>
      <p:sp>
        <p:nvSpPr>
          <p:cNvPr id="21" name="Rounded Rectangle 20"/>
          <p:cNvSpPr/>
          <p:nvPr/>
        </p:nvSpPr>
        <p:spPr>
          <a:xfrm>
            <a:off x="4389120" y="3520440"/>
            <a:ext cx="342900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89120" y="3520440"/>
            <a:ext cx="73152" cy="1874519"/>
          </a:xfrm>
          <a:prstGeom prst="rect">
            <a:avLst/>
          </a:prstGeom>
          <a:solidFill>
            <a:srgbClr val="22C1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0288" y="3685032"/>
            <a:ext cx="3063240" cy="320040"/>
          </a:xfrm>
          <a:prstGeom prst="rect">
            <a:avLst/>
          </a:prstGeom>
          <a:noFill/>
        </p:spPr>
        <p:txBody>
          <a:bodyPr wrap="square">
            <a:spAutoFit/>
          </a:bodyPr>
          <a:lstStyle/>
          <a:p>
            <a:pPr algn="l"/>
            <a:r>
              <a:rPr sz="1500" b="1">
                <a:solidFill>
                  <a:srgbClr val="22C1C3"/>
                </a:solidFill>
              </a:rPr>
              <a:t>5. FINDINGS</a:t>
            </a:r>
          </a:p>
        </p:txBody>
      </p:sp>
      <p:sp>
        <p:nvSpPr>
          <p:cNvPr id="24" name="TextBox 23"/>
          <p:cNvSpPr txBox="1"/>
          <p:nvPr/>
        </p:nvSpPr>
        <p:spPr>
          <a:xfrm>
            <a:off x="4590288" y="4087368"/>
            <a:ext cx="3063240" cy="1188719"/>
          </a:xfrm>
          <a:prstGeom prst="rect">
            <a:avLst/>
          </a:prstGeom>
          <a:noFill/>
        </p:spPr>
        <p:txBody>
          <a:bodyPr wrap="square">
            <a:spAutoFit/>
          </a:bodyPr>
          <a:lstStyle/>
          <a:p>
            <a:pPr algn="l"/>
            <a:r>
              <a:rPr sz="1150" b="0">
                <a:solidFill>
                  <a:srgbClr val="1E2532"/>
                </a:solidFill>
              </a:rPr>
              <a:t>Identify rider, driver and platform-level patterns; test whether results support the objectives.</a:t>
            </a:r>
          </a:p>
        </p:txBody>
      </p:sp>
      <p:sp>
        <p:nvSpPr>
          <p:cNvPr id="25" name="Rounded Rectangle 24"/>
          <p:cNvSpPr/>
          <p:nvPr/>
        </p:nvSpPr>
        <p:spPr>
          <a:xfrm>
            <a:off x="8229600" y="3520440"/>
            <a:ext cx="342900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0" y="3520440"/>
            <a:ext cx="73152" cy="1874519"/>
          </a:xfrm>
          <a:prstGeom prst="rect">
            <a:avLst/>
          </a:prstGeom>
          <a:solidFill>
            <a:srgbClr val="E74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30768" y="3685032"/>
            <a:ext cx="3063240" cy="320040"/>
          </a:xfrm>
          <a:prstGeom prst="rect">
            <a:avLst/>
          </a:prstGeom>
          <a:noFill/>
        </p:spPr>
        <p:txBody>
          <a:bodyPr wrap="square">
            <a:spAutoFit/>
          </a:bodyPr>
          <a:lstStyle/>
          <a:p>
            <a:pPr algn="l"/>
            <a:r>
              <a:rPr sz="1500" b="1">
                <a:solidFill>
                  <a:srgbClr val="E74C78"/>
                </a:solidFill>
              </a:rPr>
              <a:t>6. FINAL REPORT</a:t>
            </a:r>
          </a:p>
        </p:txBody>
      </p:sp>
      <p:sp>
        <p:nvSpPr>
          <p:cNvPr id="28" name="TextBox 27"/>
          <p:cNvSpPr txBox="1"/>
          <p:nvPr/>
        </p:nvSpPr>
        <p:spPr>
          <a:xfrm>
            <a:off x="8430768" y="4087368"/>
            <a:ext cx="3063240" cy="1188719"/>
          </a:xfrm>
          <a:prstGeom prst="rect">
            <a:avLst/>
          </a:prstGeom>
          <a:noFill/>
        </p:spPr>
        <p:txBody>
          <a:bodyPr wrap="square">
            <a:spAutoFit/>
          </a:bodyPr>
          <a:lstStyle/>
          <a:p>
            <a:pPr algn="l"/>
            <a:r>
              <a:rPr sz="1150" b="0">
                <a:solidFill>
                  <a:srgbClr val="1E2532"/>
                </a:solidFill>
              </a:rPr>
              <a:t>Convert findings into conclusions, recommendations, limitations and references.</a:t>
            </a:r>
          </a:p>
        </p:txBody>
      </p:sp>
      <p:sp>
        <p:nvSpPr>
          <p:cNvPr id="29" name="TextBox 28"/>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8/10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700" b="1">
                <a:solidFill>
                  <a:srgbClr val="FFFFFF"/>
                </a:solidFill>
              </a:rPr>
              <a:t>Expected Analysis &amp; Outcomes</a:t>
            </a:r>
          </a:p>
        </p:txBody>
      </p:sp>
      <p:sp>
        <p:nvSpPr>
          <p:cNvPr id="4" name="TextBox 3"/>
          <p:cNvSpPr txBox="1"/>
          <p:nvPr/>
        </p:nvSpPr>
        <p:spPr>
          <a:xfrm>
            <a:off x="621792" y="850392"/>
            <a:ext cx="10789920" cy="523220"/>
          </a:xfrm>
          <a:prstGeom prst="rect">
            <a:avLst/>
          </a:prstGeom>
          <a:noFill/>
        </p:spPr>
        <p:txBody>
          <a:bodyPr wrap="square">
            <a:spAutoFit/>
          </a:bodyPr>
          <a:lstStyle/>
          <a:p>
            <a:r>
              <a:rPr lang="en-IN" sz="1400" dirty="0">
                <a:solidFill>
                  <a:schemeClr val="bg1"/>
                </a:solidFill>
              </a:rPr>
              <a:t>Through this study, we expect to understand rider responses to surge pricing, driver responses to incentives, platform competition, and possible policy issues related to gig workers and SDG 8.</a:t>
            </a:r>
            <a:endParaRPr sz="1250" b="0" dirty="0">
              <a:solidFill>
                <a:schemeClr val="bg1"/>
              </a:solidFill>
            </a:endParaRPr>
          </a:p>
        </p:txBody>
      </p:sp>
      <p:sp>
        <p:nvSpPr>
          <p:cNvPr id="5" name="Rounded Rectangle 4"/>
          <p:cNvSpPr/>
          <p:nvPr/>
        </p:nvSpPr>
        <p:spPr>
          <a:xfrm>
            <a:off x="685800" y="1417320"/>
            <a:ext cx="4983480" cy="16459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417320"/>
            <a:ext cx="73152" cy="1645920"/>
          </a:xfrm>
          <a:prstGeom prst="rect">
            <a:avLst/>
          </a:prstGeom>
          <a:solidFill>
            <a:srgbClr val="22C1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581912"/>
            <a:ext cx="4617720" cy="320040"/>
          </a:xfrm>
          <a:prstGeom prst="rect">
            <a:avLst/>
          </a:prstGeom>
          <a:noFill/>
        </p:spPr>
        <p:txBody>
          <a:bodyPr wrap="square">
            <a:spAutoFit/>
          </a:bodyPr>
          <a:lstStyle/>
          <a:p>
            <a:pPr algn="l"/>
            <a:r>
              <a:rPr sz="1500" b="1">
                <a:solidFill>
                  <a:srgbClr val="22C1C3"/>
                </a:solidFill>
              </a:rPr>
              <a:t>RIDER</a:t>
            </a:r>
          </a:p>
        </p:txBody>
      </p:sp>
      <p:sp>
        <p:nvSpPr>
          <p:cNvPr id="8" name="TextBox 7"/>
          <p:cNvSpPr txBox="1"/>
          <p:nvPr/>
        </p:nvSpPr>
        <p:spPr>
          <a:xfrm>
            <a:off x="886968" y="1984248"/>
            <a:ext cx="4617720" cy="960120"/>
          </a:xfrm>
          <a:prstGeom prst="rect">
            <a:avLst/>
          </a:prstGeom>
          <a:noFill/>
        </p:spPr>
        <p:txBody>
          <a:bodyPr wrap="square">
            <a:spAutoFit/>
          </a:bodyPr>
          <a:lstStyle/>
          <a:p>
            <a:pPr algn="l"/>
            <a:r>
              <a:rPr sz="1150" b="0">
                <a:solidFill>
                  <a:srgbClr val="1E2532"/>
                </a:solidFill>
              </a:rPr>
              <a:t>Measure how strongly demand changes as fares rise.</a:t>
            </a:r>
          </a:p>
        </p:txBody>
      </p:sp>
      <p:sp>
        <p:nvSpPr>
          <p:cNvPr id="9" name="Rounded Rectangle 8"/>
          <p:cNvSpPr/>
          <p:nvPr/>
        </p:nvSpPr>
        <p:spPr>
          <a:xfrm>
            <a:off x="6263640" y="1417320"/>
            <a:ext cx="4983480" cy="16459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417320"/>
            <a:ext cx="73152" cy="1645920"/>
          </a:xfrm>
          <a:prstGeom prst="rect">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7" y="1581912"/>
            <a:ext cx="4617720" cy="320040"/>
          </a:xfrm>
          <a:prstGeom prst="rect">
            <a:avLst/>
          </a:prstGeom>
          <a:noFill/>
        </p:spPr>
        <p:txBody>
          <a:bodyPr wrap="square">
            <a:spAutoFit/>
          </a:bodyPr>
          <a:lstStyle/>
          <a:p>
            <a:pPr algn="l"/>
            <a:r>
              <a:rPr sz="1500" b="1">
                <a:solidFill>
                  <a:srgbClr val="F5892F"/>
                </a:solidFill>
              </a:rPr>
              <a:t>DRIVER</a:t>
            </a:r>
          </a:p>
        </p:txBody>
      </p:sp>
      <p:sp>
        <p:nvSpPr>
          <p:cNvPr id="12" name="TextBox 11"/>
          <p:cNvSpPr txBox="1"/>
          <p:nvPr/>
        </p:nvSpPr>
        <p:spPr>
          <a:xfrm>
            <a:off x="6464807" y="1984248"/>
            <a:ext cx="4617720" cy="960120"/>
          </a:xfrm>
          <a:prstGeom prst="rect">
            <a:avLst/>
          </a:prstGeom>
          <a:noFill/>
        </p:spPr>
        <p:txBody>
          <a:bodyPr wrap="square">
            <a:spAutoFit/>
          </a:bodyPr>
          <a:lstStyle/>
          <a:p>
            <a:pPr algn="l"/>
            <a:r>
              <a:rPr sz="1150" b="0">
                <a:solidFill>
                  <a:srgbClr val="1E2532"/>
                </a:solidFill>
              </a:rPr>
              <a:t>Estimate how incentives and expected earnings affect available capacity.</a:t>
            </a:r>
          </a:p>
        </p:txBody>
      </p:sp>
      <p:sp>
        <p:nvSpPr>
          <p:cNvPr id="13" name="Rounded Rectangle 12"/>
          <p:cNvSpPr/>
          <p:nvPr/>
        </p:nvSpPr>
        <p:spPr>
          <a:xfrm>
            <a:off x="685800" y="3520439"/>
            <a:ext cx="4983480" cy="16459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3520439"/>
            <a:ext cx="73152" cy="1645920"/>
          </a:xfrm>
          <a:prstGeom prst="rect">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3685031"/>
            <a:ext cx="4617720" cy="320040"/>
          </a:xfrm>
          <a:prstGeom prst="rect">
            <a:avLst/>
          </a:prstGeom>
          <a:noFill/>
        </p:spPr>
        <p:txBody>
          <a:bodyPr wrap="square">
            <a:spAutoFit/>
          </a:bodyPr>
          <a:lstStyle/>
          <a:p>
            <a:pPr algn="l"/>
            <a:r>
              <a:rPr sz="1500" b="1">
                <a:solidFill>
                  <a:srgbClr val="704CB6"/>
                </a:solidFill>
              </a:rPr>
              <a:t>PLATFORM</a:t>
            </a:r>
          </a:p>
        </p:txBody>
      </p:sp>
      <p:sp>
        <p:nvSpPr>
          <p:cNvPr id="16" name="TextBox 15"/>
          <p:cNvSpPr txBox="1"/>
          <p:nvPr/>
        </p:nvSpPr>
        <p:spPr>
          <a:xfrm>
            <a:off x="886968" y="4087368"/>
            <a:ext cx="4617720" cy="960120"/>
          </a:xfrm>
          <a:prstGeom prst="rect">
            <a:avLst/>
          </a:prstGeom>
          <a:noFill/>
        </p:spPr>
        <p:txBody>
          <a:bodyPr wrap="square">
            <a:spAutoFit/>
          </a:bodyPr>
          <a:lstStyle/>
          <a:p>
            <a:pPr algn="l"/>
            <a:r>
              <a:rPr sz="1150" b="0">
                <a:solidFill>
                  <a:srgbClr val="1E2532"/>
                </a:solidFill>
              </a:rPr>
              <a:t>Compare pricing, competition and allocation choices.</a:t>
            </a:r>
          </a:p>
        </p:txBody>
      </p:sp>
      <p:sp>
        <p:nvSpPr>
          <p:cNvPr id="17" name="Rounded Rectangle 16"/>
          <p:cNvSpPr/>
          <p:nvPr/>
        </p:nvSpPr>
        <p:spPr>
          <a:xfrm>
            <a:off x="6263640" y="3520439"/>
            <a:ext cx="4983480" cy="16459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3520439"/>
            <a:ext cx="73152" cy="1645920"/>
          </a:xfrm>
          <a:prstGeom prst="rect">
            <a:avLst/>
          </a:prstGeom>
          <a:solidFill>
            <a:srgbClr val="2FA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4807" y="3685031"/>
            <a:ext cx="4617720" cy="320040"/>
          </a:xfrm>
          <a:prstGeom prst="rect">
            <a:avLst/>
          </a:prstGeom>
          <a:noFill/>
        </p:spPr>
        <p:txBody>
          <a:bodyPr wrap="square">
            <a:spAutoFit/>
          </a:bodyPr>
          <a:lstStyle/>
          <a:p>
            <a:pPr algn="l"/>
            <a:r>
              <a:rPr sz="1500" b="1">
                <a:solidFill>
                  <a:srgbClr val="2FA671"/>
                </a:solidFill>
              </a:rPr>
              <a:t>POLICY</a:t>
            </a:r>
          </a:p>
        </p:txBody>
      </p:sp>
      <p:sp>
        <p:nvSpPr>
          <p:cNvPr id="20" name="TextBox 19"/>
          <p:cNvSpPr txBox="1"/>
          <p:nvPr/>
        </p:nvSpPr>
        <p:spPr>
          <a:xfrm>
            <a:off x="6464807" y="4087368"/>
            <a:ext cx="4617720" cy="960120"/>
          </a:xfrm>
          <a:prstGeom prst="rect">
            <a:avLst/>
          </a:prstGeom>
          <a:noFill/>
        </p:spPr>
        <p:txBody>
          <a:bodyPr wrap="square">
            <a:spAutoFit/>
          </a:bodyPr>
          <a:lstStyle/>
          <a:p>
            <a:pPr algn="l"/>
            <a:r>
              <a:rPr sz="1150" b="0">
                <a:solidFill>
                  <a:srgbClr val="1E2532"/>
                </a:solidFill>
              </a:rPr>
              <a:t>Assess transparency, fair-work and SDG 8 implications.</a:t>
            </a:r>
          </a:p>
        </p:txBody>
      </p:sp>
      <p:sp>
        <p:nvSpPr>
          <p:cNvPr id="21" name="TextBox 20"/>
          <p:cNvSpPr txBox="1"/>
          <p:nvPr/>
        </p:nvSpPr>
        <p:spPr>
          <a:xfrm>
            <a:off x="777240" y="5715000"/>
            <a:ext cx="1554480" cy="274320"/>
          </a:xfrm>
          <a:prstGeom prst="rect">
            <a:avLst/>
          </a:prstGeom>
          <a:noFill/>
        </p:spPr>
        <p:txBody>
          <a:bodyPr wrap="square">
            <a:spAutoFit/>
          </a:bodyPr>
          <a:lstStyle/>
          <a:p>
            <a:pPr algn="l"/>
            <a:r>
              <a:rPr sz="1200" b="1">
                <a:solidFill>
                  <a:srgbClr val="22C1C3"/>
                </a:solidFill>
              </a:rPr>
              <a:t>Final deliverable</a:t>
            </a:r>
          </a:p>
        </p:txBody>
      </p:sp>
      <p:sp>
        <p:nvSpPr>
          <p:cNvPr id="22" name="TextBox 21"/>
          <p:cNvSpPr txBox="1"/>
          <p:nvPr/>
        </p:nvSpPr>
        <p:spPr>
          <a:xfrm>
            <a:off x="2240280" y="5650992"/>
            <a:ext cx="8869680" cy="502920"/>
          </a:xfrm>
          <a:prstGeom prst="rect">
            <a:avLst/>
          </a:prstGeom>
          <a:noFill/>
        </p:spPr>
        <p:txBody>
          <a:bodyPr wrap="square">
            <a:spAutoFit/>
          </a:bodyPr>
          <a:lstStyle/>
          <a:p>
            <a:pPr algn="l"/>
            <a:r>
              <a:rPr sz="1400" b="1">
                <a:solidFill>
                  <a:srgbClr val="FFFFFF"/>
                </a:solidFill>
              </a:rPr>
              <a:t>A data-backed PPT/report combining economics, business environment and Python visual analytics.</a:t>
            </a:r>
          </a:p>
        </p:txBody>
      </p:sp>
      <p:sp>
        <p:nvSpPr>
          <p:cNvPr id="23" name="TextBox 22"/>
          <p:cNvSpPr txBox="1"/>
          <p:nvPr/>
        </p:nvSpPr>
        <p:spPr>
          <a:xfrm>
            <a:off x="11109960" y="6446520"/>
            <a:ext cx="502920" cy="228600"/>
          </a:xfrm>
          <a:prstGeom prst="rect">
            <a:avLst/>
          </a:prstGeom>
          <a:noFill/>
        </p:spPr>
        <p:txBody>
          <a:bodyPr wrap="square">
            <a:spAutoFit/>
          </a:bodyPr>
          <a:lstStyle/>
          <a:p>
            <a:pPr algn="r"/>
            <a:r>
              <a:rPr sz="900" b="0">
                <a:solidFill>
                  <a:srgbClr val="697587"/>
                </a:solidFill>
              </a:rPr>
              <a:t>9/10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365760"/>
            <a:ext cx="1554480" cy="1554480"/>
          </a:xfrm>
          <a:prstGeom prst="ellipse">
            <a:avLst/>
          </a:prstGeom>
          <a:solidFill>
            <a:srgbClr val="22C1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5303520"/>
            <a:ext cx="1371600" cy="1371600"/>
          </a:xfrm>
          <a:prstGeom prst="ellipse">
            <a:avLst/>
          </a:prstGeom>
          <a:solidFill>
            <a:srgbClr val="F58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515600" y="5120640"/>
            <a:ext cx="914400" cy="914400"/>
          </a:xfrm>
          <a:prstGeom prst="ellipse">
            <a:avLst/>
          </a:prstGeom>
          <a:solidFill>
            <a:srgbClr val="704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828800"/>
            <a:ext cx="10698480" cy="1005840"/>
          </a:xfrm>
          <a:prstGeom prst="rect">
            <a:avLst/>
          </a:prstGeom>
          <a:noFill/>
        </p:spPr>
        <p:txBody>
          <a:bodyPr wrap="square">
            <a:spAutoFit/>
          </a:bodyPr>
          <a:lstStyle/>
          <a:p>
            <a:pPr algn="ctr"/>
            <a:r>
              <a:rPr sz="4600" b="1">
                <a:solidFill>
                  <a:srgbClr val="FFFFFF"/>
                </a:solidFill>
              </a:rPr>
              <a:t>THANK YOU</a:t>
            </a:r>
          </a:p>
        </p:txBody>
      </p:sp>
      <p:sp>
        <p:nvSpPr>
          <p:cNvPr id="8" name="TextBox 7"/>
          <p:cNvSpPr txBox="1"/>
          <p:nvPr/>
        </p:nvSpPr>
        <p:spPr>
          <a:xfrm>
            <a:off x="2011680" y="3840480"/>
            <a:ext cx="8138160" cy="365760"/>
          </a:xfrm>
          <a:prstGeom prst="rect">
            <a:avLst/>
          </a:prstGeom>
          <a:noFill/>
        </p:spPr>
        <p:txBody>
          <a:bodyPr wrap="square">
            <a:spAutoFit/>
          </a:bodyPr>
          <a:lstStyle/>
          <a:p>
            <a:pPr algn="ctr"/>
            <a:r>
              <a:rPr sz="1400" b="1">
                <a:solidFill>
                  <a:srgbClr val="FFFFFF"/>
                </a:solidFill>
              </a:rPr>
              <a:t>Ola / Uber Surge Pricing &amp; Gig Economy Study</a:t>
            </a:r>
          </a:p>
        </p:txBody>
      </p:sp>
      <p:sp>
        <p:nvSpPr>
          <p:cNvPr id="9" name="TextBox 8"/>
          <p:cNvSpPr txBox="1"/>
          <p:nvPr/>
        </p:nvSpPr>
        <p:spPr>
          <a:xfrm>
            <a:off x="2011680" y="4343400"/>
            <a:ext cx="8138160" cy="320040"/>
          </a:xfrm>
          <a:prstGeom prst="rect">
            <a:avLst/>
          </a:prstGeom>
          <a:noFill/>
        </p:spPr>
        <p:txBody>
          <a:bodyPr wrap="square">
            <a:spAutoFit/>
          </a:bodyPr>
          <a:lstStyle/>
          <a:p>
            <a:pPr algn="ctr"/>
            <a:r>
              <a:rPr sz="1200" b="0">
                <a:solidFill>
                  <a:srgbClr val="DCF0FF"/>
                </a:solidFill>
              </a:rPr>
              <a:t>Economics • Business Environment •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1063</Words>
  <Application>Microsoft Office PowerPoint</Application>
  <PresentationFormat>Widescreen</PresentationFormat>
  <Paragraphs>107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Jathin surya G</cp:lastModifiedBy>
  <cp:revision>2</cp:revision>
  <dcterms:created xsi:type="dcterms:W3CDTF">2013-01-27T09:14:16Z</dcterms:created>
  <dcterms:modified xsi:type="dcterms:W3CDTF">2026-10-07T14:14:19Z</dcterms:modified>
  <cp:category/>
</cp:coreProperties>
</file>